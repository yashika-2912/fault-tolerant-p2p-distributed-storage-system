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515600" cy="1828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1">
                <a:solidFill>
                  <a:srgbClr val="6DD5E8"/>
                </a:solidFill>
                <a:latin typeface="Aptos"/>
              </a:defRPr>
            </a:pPr>
            <a:r>
              <a:t>FINAL YEAR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5623560" cy="9601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FAULT TOLERANT P2P</a:t>
            </a:r>
            <a:br/>
            <a:r>
              <a:t>DISTRIBUTED STORAGE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783080"/>
            <a:ext cx="5486400" cy="43891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6DD5E8"/>
                </a:solidFill>
                <a:latin typeface="Aptos"/>
              </a:defRPr>
            </a:pPr>
            <a:r>
              <a:t>A Distributed Approach to Reliable, Secure, and Verifiable File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13432"/>
            <a:ext cx="5349240" cy="60350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300" b="0">
                <a:solidFill>
                  <a:srgbClr val="CBD5E1"/>
                </a:solidFill>
                <a:latin typeface="Aptos"/>
              </a:defRPr>
            </a:pPr>
            <a:r>
              <a:t>A distributed storage prototype exploring file distribution, replication, integrity verification, and recovery from storage-node failures.</a:t>
            </a:r>
          </a:p>
        </p:txBody>
      </p:sp>
      <p:pic>
        <p:nvPicPr>
          <p:cNvPr id="7" name="Picture 6" descr="network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14400"/>
            <a:ext cx="5394960" cy="3337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2648" y="3337560"/>
            <a:ext cx="5257800" cy="2331720"/>
          </a:xfrm>
          <a:prstGeom prst="roundRect">
            <a:avLst/>
          </a:prstGeom>
          <a:solidFill>
            <a:srgbClr val="132743"/>
          </a:solidFill>
          <a:ln w="15240">
            <a:solidFill>
              <a:srgbClr val="13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529584"/>
            <a:ext cx="484632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1">
                <a:solidFill>
                  <a:srgbClr val="6DD5E8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858768"/>
            <a:ext cx="4663440" cy="2468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Presented by: [STUDENT NAME]     Roll Number: [ROLL NUMBER]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187952"/>
            <a:ext cx="4663440" cy="2468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Department: [DEPARTMENT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517136"/>
            <a:ext cx="4663440" cy="2468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Institution: [COLLEGE / UNIVERSITY NAME]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846320"/>
            <a:ext cx="4663440" cy="2468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Project Guide: [GUIDE NAME]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175504"/>
            <a:ext cx="4663440" cy="2468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Academic Year: [ACADEMIC YEAR]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CBD5E1"/>
                </a:solidFill>
                <a:latin typeface="Aptos"/>
              </a:defRPr>
            </a:pPr>
            <a:r>
              <a:t>FAULT TOLERANT P2P  |  ACADEMIC 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6DD5E8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0B1730"/>
                </a:solidFill>
                <a:latin typeface="Aptos Display"/>
              </a:defRPr>
            </a:pPr>
            <a:r>
              <a:t>Presentation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09728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52627A"/>
                </a:solidFill>
                <a:latin typeface="Aptos"/>
              </a:defRPr>
            </a:pPr>
            <a:r>
              <a:t>From the storage problem to implementation evidence and next experiments.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52627A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Oval 7"/>
          <p:cNvSpPr/>
          <p:nvPr/>
        </p:nvSpPr>
        <p:spPr>
          <a:xfrm>
            <a:off x="1252728" y="1627632"/>
            <a:ext cx="658368" cy="65836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1792224"/>
            <a:ext cx="658368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38528" y="1956816"/>
            <a:ext cx="950976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2487168"/>
            <a:ext cx="2139696" cy="29260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600" b="1">
                <a:solidFill>
                  <a:srgbClr val="0B1730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907792"/>
            <a:ext cx="2066543" cy="9144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200" b="0">
                <a:solidFill>
                  <a:srgbClr val="52627A"/>
                </a:solidFill>
                <a:latin typeface="Aptos"/>
              </a:defRPr>
            </a:pPr>
            <a:r>
              <a:t>Why distribution and fault tolerance matter</a:t>
            </a:r>
          </a:p>
        </p:txBody>
      </p:sp>
      <p:sp>
        <p:nvSpPr>
          <p:cNvPr id="13" name="Oval 12"/>
          <p:cNvSpPr/>
          <p:nvPr/>
        </p:nvSpPr>
        <p:spPr>
          <a:xfrm>
            <a:off x="3593591" y="1627632"/>
            <a:ext cx="658368" cy="65836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1" y="1792224"/>
            <a:ext cx="658368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79392" y="1956816"/>
            <a:ext cx="950976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935224" y="2487168"/>
            <a:ext cx="2139696" cy="29260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600" b="1">
                <a:solidFill>
                  <a:srgbClr val="0B1730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907792"/>
            <a:ext cx="2066543" cy="9144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200" b="0">
                <a:solidFill>
                  <a:srgbClr val="52627A"/>
                </a:solidFill>
                <a:latin typeface="Aptos"/>
              </a:defRPr>
            </a:pPr>
            <a:r>
              <a:t>Requirements, architecture, algorithms</a:t>
            </a:r>
          </a:p>
        </p:txBody>
      </p:sp>
      <p:sp>
        <p:nvSpPr>
          <p:cNvPr id="18" name="Oval 17"/>
          <p:cNvSpPr/>
          <p:nvPr/>
        </p:nvSpPr>
        <p:spPr>
          <a:xfrm>
            <a:off x="5934456" y="1627632"/>
            <a:ext cx="658368" cy="65836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34456" y="1792224"/>
            <a:ext cx="658368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20256" y="1956816"/>
            <a:ext cx="950975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76088" y="2487168"/>
            <a:ext cx="2139696" cy="29260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600" b="1">
                <a:solidFill>
                  <a:srgbClr val="0B1730"/>
                </a:solidFill>
                <a:latin typeface="Aptos"/>
              </a:defRPr>
            </a:pPr>
            <a:r>
              <a:t>Mechanisms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2664" y="2907792"/>
            <a:ext cx="2066543" cy="9144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200" b="0">
                <a:solidFill>
                  <a:srgbClr val="52627A"/>
                </a:solidFill>
                <a:latin typeface="Aptos"/>
              </a:defRPr>
            </a:pPr>
            <a:r>
              <a:t>Storage, security, monitoring, repair</a:t>
            </a:r>
          </a:p>
        </p:txBody>
      </p:sp>
      <p:sp>
        <p:nvSpPr>
          <p:cNvPr id="23" name="Oval 22"/>
          <p:cNvSpPr/>
          <p:nvPr/>
        </p:nvSpPr>
        <p:spPr>
          <a:xfrm>
            <a:off x="8275320" y="1627632"/>
            <a:ext cx="658368" cy="658368"/>
          </a:xfrm>
          <a:prstGeom prst="ellipse">
            <a:avLst/>
          </a:prstGeom>
          <a:solidFill>
            <a:srgbClr val="11B5AE"/>
          </a:solidFill>
          <a:ln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792224"/>
            <a:ext cx="658368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61120" y="1956816"/>
            <a:ext cx="950976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616952" y="2487168"/>
            <a:ext cx="2139696" cy="29260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600" b="1">
                <a:solidFill>
                  <a:srgbClr val="0B1730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3527" y="2907792"/>
            <a:ext cx="2066543" cy="9144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200" b="0">
                <a:solidFill>
                  <a:srgbClr val="52627A"/>
                </a:solidFill>
                <a:latin typeface="Aptos"/>
              </a:defRPr>
            </a:pPr>
            <a:r>
              <a:t>Tests, methodology, measured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10616184" y="1627632"/>
            <a:ext cx="658368" cy="658368"/>
          </a:xfrm>
          <a:prstGeom prst="ellipse">
            <a:avLst/>
          </a:prstGeom>
          <a:solidFill>
            <a:srgbClr val="11B5AE"/>
          </a:solidFill>
          <a:ln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16184" y="1792224"/>
            <a:ext cx="658368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7816" y="2487168"/>
            <a:ext cx="2139696" cy="29260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600" b="1">
                <a:solidFill>
                  <a:srgbClr val="0B1730"/>
                </a:solidFill>
                <a:latin typeface="Aptos"/>
              </a:defRPr>
            </a:pPr>
            <a:r>
              <a:t>Close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94392" y="2907792"/>
            <a:ext cx="2066543" cy="9144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200" b="0">
                <a:solidFill>
                  <a:srgbClr val="52627A"/>
                </a:solidFill>
                <a:latin typeface="Aptos"/>
              </a:defRPr>
            </a:pPr>
            <a:r>
              <a:t>Limitations and contribution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434840"/>
            <a:ext cx="107442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636008"/>
            <a:ext cx="10241280" cy="3657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600" b="1">
                <a:solidFill>
                  <a:srgbClr val="0B1730"/>
                </a:solidFill>
                <a:latin typeface="Aptos"/>
              </a:defRPr>
            </a:pPr>
            <a:r>
              <a:t>Question → design choices → implementation → evidence → what remains to be tested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01  • 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0B1730"/>
                </a:solidFill>
                <a:latin typeface="Aptos Display"/>
              </a:defRPr>
            </a:pPr>
            <a:r>
              <a:t>Introduction to Distributed Storage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09728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52627A"/>
                </a:solidFill>
                <a:latin typeface="Aptos"/>
              </a:defRPr>
            </a:pPr>
            <a:r>
              <a:t>Distribute bytes across nodes; coordinate access, placement, and verification.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52627A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530352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554480"/>
            <a:ext cx="64008" cy="3520440"/>
          </a:xfrm>
          <a:prstGeom prst="rect">
            <a:avLst/>
          </a:prstGeom>
          <a:solidFill>
            <a:srgbClr val="52627A"/>
          </a:solidFill>
          <a:ln w="15240">
            <a:solidFill>
              <a:srgbClr val="526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82495"/>
            <a:ext cx="4974336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0B1730"/>
                </a:solidFill>
                <a:latin typeface="Aptos"/>
              </a:defRPr>
            </a:pPr>
            <a:r>
              <a:t>Single-machine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093976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300" b="0">
                <a:solidFill>
                  <a:srgbClr val="18243A"/>
                </a:solidFill>
                <a:latin typeface="Aptos"/>
              </a:defRPr>
            </a:pPr>
            <a:r>
              <a:t>•  One host stores and serves the file.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24328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300" b="0">
                <a:solidFill>
                  <a:srgbClr val="18243A"/>
                </a:solidFill>
                <a:latin typeface="Aptos"/>
              </a:defRPr>
            </a:pPr>
            <a:r>
              <a:t>•  A host or disk outage can interrupt access to that copy.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154680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300" b="0">
                <a:solidFill>
                  <a:srgbClr val="18243A"/>
                </a:solidFill>
                <a:latin typeface="Aptos"/>
              </a:defRPr>
            </a:pPr>
            <a:r>
              <a:t>•  Simple to reason about; capacity is tied to the machine.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54480"/>
            <a:ext cx="530352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54480"/>
            <a:ext cx="64008" cy="352044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82495"/>
            <a:ext cx="4974336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0B1730"/>
                </a:solidFill>
                <a:latin typeface="Aptos"/>
              </a:defRPr>
            </a:pPr>
            <a:r>
              <a:t>Distributed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2093976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300" b="0">
                <a:solidFill>
                  <a:srgbClr val="18243A"/>
                </a:solidFill>
                <a:latin typeface="Aptos"/>
              </a:defRPr>
            </a:pPr>
            <a:r>
              <a:t>•  Data is stored on multiple networked computers.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2624328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300" b="0">
                <a:solidFill>
                  <a:srgbClr val="18243A"/>
                </a:solidFill>
                <a:latin typeface="Aptos"/>
              </a:defRPr>
            </a:pPr>
            <a:r>
              <a:t>•  Clients use a service rather than managing each disk.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3154680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300" b="0">
                <a:solidFill>
                  <a:srgbClr val="18243A"/>
                </a:solidFill>
                <a:latin typeface="Aptos"/>
              </a:defRPr>
            </a:pPr>
            <a:r>
              <a:t>•  Replication may create an alternate copy, with extra storage and coordination cost.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4096512"/>
            <a:ext cx="2286000" cy="566928"/>
          </a:xfrm>
          <a:prstGeom prst="roundRect">
            <a:avLst/>
          </a:prstGeom>
          <a:solidFill>
            <a:srgbClr val="132743"/>
          </a:solidFill>
          <a:ln w="15240">
            <a:solidFill>
              <a:srgbClr val="13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76272" y="4178808"/>
            <a:ext cx="1938528" cy="86868"/>
          </a:xfrm>
          <a:prstGeom prst="rect">
            <a:avLst/>
          </a:prstGeom>
          <a:solidFill>
            <a:srgbClr val="2563EB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58768" y="4197096"/>
            <a:ext cx="50292" cy="50292"/>
          </a:xfrm>
          <a:prstGeom prst="ellipse">
            <a:avLst/>
          </a:prstGeom>
          <a:solidFill>
            <a:srgbClr val="11B5AE"/>
          </a:solidFill>
          <a:ln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76272" y="4306824"/>
            <a:ext cx="1938528" cy="86868"/>
          </a:xfrm>
          <a:prstGeom prst="rect">
            <a:avLst/>
          </a:prstGeom>
          <a:solidFill>
            <a:srgbClr val="132743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58768" y="4325112"/>
            <a:ext cx="50292" cy="50292"/>
          </a:xfrm>
          <a:prstGeom prst="ellipse">
            <a:avLst/>
          </a:prstGeom>
          <a:solidFill>
            <a:srgbClr val="11B5AE"/>
          </a:solidFill>
          <a:ln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76272" y="4434840"/>
            <a:ext cx="1938528" cy="86868"/>
          </a:xfrm>
          <a:prstGeom prst="rect">
            <a:avLst/>
          </a:prstGeom>
          <a:solidFill>
            <a:srgbClr val="132743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58768" y="4453128"/>
            <a:ext cx="50292" cy="50292"/>
          </a:xfrm>
          <a:prstGeom prst="ellipse">
            <a:avLst/>
          </a:prstGeom>
          <a:solidFill>
            <a:srgbClr val="11B5AE"/>
          </a:solidFill>
          <a:ln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20840" y="4096512"/>
            <a:ext cx="1188720" cy="621792"/>
          </a:xfrm>
          <a:prstGeom prst="roundRect">
            <a:avLst/>
          </a:prstGeom>
          <a:solidFill>
            <a:srgbClr val="132743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0" y="4187952"/>
            <a:ext cx="914400" cy="100584"/>
          </a:xfrm>
          <a:prstGeom prst="rect">
            <a:avLst/>
          </a:prstGeom>
          <a:solidFill>
            <a:srgbClr val="2563EB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0" y="4398264"/>
            <a:ext cx="914400" cy="100584"/>
          </a:xfrm>
          <a:prstGeom prst="rect">
            <a:avLst/>
          </a:prstGeom>
          <a:solidFill>
            <a:srgbClr val="2563EB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4754880"/>
            <a:ext cx="118872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800" b="1">
                <a:solidFill>
                  <a:srgbClr val="52627A"/>
                </a:solidFill>
                <a:latin typeface="Aptos"/>
              </a:defRPr>
            </a:pPr>
            <a:r>
              <a:t>Node 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79" y="4096512"/>
            <a:ext cx="1188720" cy="621792"/>
          </a:xfrm>
          <a:prstGeom prst="roundRect">
            <a:avLst/>
          </a:prstGeom>
          <a:solidFill>
            <a:srgbClr val="132743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0" y="4187952"/>
            <a:ext cx="914400" cy="100584"/>
          </a:xfrm>
          <a:prstGeom prst="rect">
            <a:avLst/>
          </a:prstGeom>
          <a:solidFill>
            <a:srgbClr val="2563EB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21040" y="4398264"/>
            <a:ext cx="914400" cy="100584"/>
          </a:xfrm>
          <a:prstGeom prst="rect">
            <a:avLst/>
          </a:prstGeom>
          <a:solidFill>
            <a:srgbClr val="2563EB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4754880"/>
            <a:ext cx="118872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800" b="1">
                <a:solidFill>
                  <a:srgbClr val="52627A"/>
                </a:solidFill>
                <a:latin typeface="Aptos"/>
              </a:defRPr>
            </a:pPr>
            <a:r>
              <a:t>Node 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46920" y="4096512"/>
            <a:ext cx="1188720" cy="621792"/>
          </a:xfrm>
          <a:prstGeom prst="roundRect">
            <a:avLst/>
          </a:prstGeom>
          <a:solidFill>
            <a:srgbClr val="132743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84080" y="4187952"/>
            <a:ext cx="914400" cy="100584"/>
          </a:xfrm>
          <a:prstGeom prst="rect">
            <a:avLst/>
          </a:prstGeom>
          <a:solidFill>
            <a:srgbClr val="F2A900"/>
          </a:solidFill>
          <a:ln w="15240">
            <a:solidFill>
              <a:srgbClr val="F2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84080" y="4398264"/>
            <a:ext cx="914400" cy="100584"/>
          </a:xfrm>
          <a:prstGeom prst="rect">
            <a:avLst/>
          </a:prstGeom>
          <a:solidFill>
            <a:srgbClr val="F2A900"/>
          </a:solidFill>
          <a:ln w="15240">
            <a:solidFill>
              <a:srgbClr val="F2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46920" y="4754880"/>
            <a:ext cx="118872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800" b="1">
                <a:solidFill>
                  <a:srgbClr val="52627A"/>
                </a:solidFill>
                <a:latin typeface="Aptos"/>
              </a:defRPr>
            </a:pPr>
            <a:r>
              <a:t>Node C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806440" y="333756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77240" y="5394960"/>
            <a:ext cx="10698480" cy="43891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500" b="1">
                <a:solidFill>
                  <a:srgbClr val="0B1730"/>
                </a:solidFill>
                <a:latin typeface="Aptos"/>
              </a:defRPr>
            </a:pPr>
            <a:r>
              <a:t>Distribution creates options; explicit replication, monitoring, and integrity checks are needed to make those options useful.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01  • 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0B1730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09728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52627A"/>
                </a:solidFill>
                <a:latin typeface="Aptos"/>
              </a:defRPr>
            </a:pPr>
            <a:r>
              <a:t>Illustrative failure scenario — availability of the remaining copy is not a measured outcome.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52627A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1828800" cy="100584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67128"/>
            <a:ext cx="171907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300" b="1">
                <a:solidFill>
                  <a:srgbClr val="0B1730"/>
                </a:solidFill>
                <a:latin typeface="Aptos"/>
              </a:defRPr>
            </a:pPr>
            <a: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459736"/>
            <a:ext cx="1664208" cy="55778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requests 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600200"/>
            <a:ext cx="2057400" cy="1143000"/>
          </a:xfrm>
          <a:prstGeom prst="roundRect">
            <a:avLst/>
          </a:prstGeom>
          <a:solidFill>
            <a:srgbClr val="FCEAEA"/>
          </a:solidFill>
          <a:ln w="15240">
            <a:solidFill>
              <a:srgbClr val="D9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3" y="1709928"/>
            <a:ext cx="194767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300" b="1">
                <a:solidFill>
                  <a:srgbClr val="0B1730"/>
                </a:solidFill>
                <a:latin typeface="Aptos"/>
              </a:defRPr>
            </a:pPr>
            <a:r>
              <a:t>Node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9896" y="2002536"/>
            <a:ext cx="1892807" cy="6949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copy becomes unavailable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3520440"/>
            <a:ext cx="2057400" cy="1143000"/>
          </a:xfrm>
          <a:prstGeom prst="roundRect">
            <a:avLst/>
          </a:prstGeom>
          <a:solidFill>
            <a:srgbClr val="E6F5EE"/>
          </a:solidFill>
          <a:ln w="15240">
            <a:solidFill>
              <a:srgbClr val="248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2463" y="3630168"/>
            <a:ext cx="194767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300" b="1">
                <a:solidFill>
                  <a:srgbClr val="0B1730"/>
                </a:solidFill>
                <a:latin typeface="Aptos"/>
              </a:defRPr>
            </a:pPr>
            <a:r>
              <a:t>Node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9896" y="3922776"/>
            <a:ext cx="1892807" cy="6949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alternate copy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514600"/>
            <a:ext cx="2194560" cy="114300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44384" y="2624328"/>
            <a:ext cx="2084831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300" b="1">
                <a:solidFill>
                  <a:srgbClr val="0B1730"/>
                </a:solidFill>
                <a:latin typeface="Aptos"/>
              </a:defRPr>
            </a:pPr>
            <a:r>
              <a:t>Coordinator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1816" y="2916936"/>
            <a:ext cx="2029967" cy="6949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metadata + selection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560320" y="2148840"/>
            <a:ext cx="1097280" cy="393192"/>
          </a:xfrm>
          <a:prstGeom prst="line">
            <a:avLst/>
          </a:prstGeom>
          <a:ln w="25400">
            <a:solidFill>
              <a:srgbClr val="D9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560320" y="2651760"/>
            <a:ext cx="1097280" cy="1325879"/>
          </a:xfrm>
          <a:prstGeom prst="line">
            <a:avLst/>
          </a:prstGeom>
          <a:ln w="25400">
            <a:solidFill>
              <a:srgbClr val="248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2148840"/>
            <a:ext cx="1874520" cy="640080"/>
          </a:xfrm>
          <a:prstGeom prst="line">
            <a:avLst/>
          </a:prstGeom>
          <a:ln w="19050">
            <a:solidFill>
              <a:srgbClr val="D9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715000" y="3337560"/>
            <a:ext cx="1874520" cy="640079"/>
          </a:xfrm>
          <a:prstGeom prst="line">
            <a:avLst/>
          </a:prstGeom>
          <a:ln w="22860">
            <a:solidFill>
              <a:srgbClr val="248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0" y="1645920"/>
            <a:ext cx="3291840" cy="4114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200" b="1">
                <a:solidFill>
                  <a:srgbClr val="52627A"/>
                </a:solidFill>
                <a:latin typeface="Aptos"/>
              </a:defRPr>
            </a:pPr>
            <a:r>
              <a:t>Challenges: locate replicas • detect failures • verify bytes • repair mappings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029200"/>
            <a:ext cx="1056132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5029200"/>
            <a:ext cx="64008" cy="841248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157216"/>
            <a:ext cx="10232136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0B1730"/>
                </a:solidFill>
                <a:latin typeface="Aptos"/>
              </a:defRPr>
            </a:pPr>
            <a:r>
              <a:t>Project motivation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5568696"/>
            <a:ext cx="10177272" cy="21945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Combine selected storage, monitoring, integrity, and repair mechanisms in a small prototype, then state clearly what has and has not been verified.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02  • 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0B1730"/>
                </a:solidFill>
                <a:latin typeface="Aptos Display"/>
              </a:defRPr>
            </a:pPr>
            <a:r>
              <a:t>Objectives of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09728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52627A"/>
                </a:solidFill>
                <a:latin typeface="Aptos"/>
              </a:defRPr>
            </a:pPr>
            <a:r>
              <a:t>Project objectives are goals; later slides separate implemented behavior from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52627A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81328"/>
            <a:ext cx="5257800" cy="192024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" y="1664208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773936"/>
            <a:ext cx="438912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682496"/>
            <a:ext cx="4114800" cy="29260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600" b="1">
                <a:solidFill>
                  <a:srgbClr val="0B1730"/>
                </a:solidFill>
                <a:latin typeface="Aptos"/>
              </a:defRPr>
            </a:pPr>
            <a:r>
              <a:t>Distributed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94560"/>
            <a:ext cx="457200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Upload and retrieve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523744"/>
            <a:ext cx="457200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Split bytes into chunks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852928"/>
            <a:ext cx="457200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Track files and chunks in metadata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481328"/>
            <a:ext cx="5257800" cy="1920240"/>
          </a:xfrm>
          <a:prstGeom prst="roundRect">
            <a:avLst/>
          </a:prstGeom>
          <a:solidFill>
            <a:srgbClr val="E4F7F5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1664208"/>
            <a:ext cx="438912" cy="438912"/>
          </a:xfrm>
          <a:prstGeom prst="ellipse">
            <a:avLst/>
          </a:prstGeom>
          <a:solidFill>
            <a:srgbClr val="11B5AE"/>
          </a:solidFill>
          <a:ln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1773936"/>
            <a:ext cx="438912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1682496"/>
            <a:ext cx="4114800" cy="29260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600" b="1">
                <a:solidFill>
                  <a:srgbClr val="0B1730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194560"/>
            <a:ext cx="457200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Maintain configured replicas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523744"/>
            <a:ext cx="457200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Monitor liveness with heartbeats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2852928"/>
            <a:ext cx="457200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Attempt standby-based repair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21608"/>
            <a:ext cx="5257800" cy="1920240"/>
          </a:xfrm>
          <a:prstGeom prst="roundRect">
            <a:avLst/>
          </a:prstGeom>
          <a:solidFill>
            <a:srgbClr val="E6F5EE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0392" y="3904488"/>
            <a:ext cx="438912" cy="438912"/>
          </a:xfrm>
          <a:prstGeom prst="ellipse">
            <a:avLst/>
          </a:prstGeom>
          <a:solidFill>
            <a:srgbClr val="248A63"/>
          </a:solidFill>
          <a:ln>
            <a:solidFill>
              <a:srgbClr val="248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4014216"/>
            <a:ext cx="438912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3922776"/>
            <a:ext cx="4114800" cy="29260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600" b="1">
                <a:solidFill>
                  <a:srgbClr val="0B1730"/>
                </a:solidFill>
                <a:latin typeface="Aptos"/>
              </a:defRPr>
            </a:pPr>
            <a:r>
              <a:t>Security + integrity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434840"/>
            <a:ext cx="457200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AES-256-GCM encryption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764024"/>
            <a:ext cx="457200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SHA-256 chunk checks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093208"/>
            <a:ext cx="457200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Merkle root and linked audit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721608"/>
            <a:ext cx="5257800" cy="1920240"/>
          </a:xfrm>
          <a:prstGeom prst="roundRect">
            <a:avLst/>
          </a:prstGeom>
          <a:solidFill>
            <a:srgbClr val="FFF4D6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19672" y="3904488"/>
            <a:ext cx="438912" cy="438912"/>
          </a:xfrm>
          <a:prstGeom prst="ellipse">
            <a:avLst/>
          </a:prstGeom>
          <a:solidFill>
            <a:srgbClr val="F2A900"/>
          </a:solidFill>
          <a:ln>
            <a:solidFill>
              <a:srgbClr val="F2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4014216"/>
            <a:ext cx="438912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3922776"/>
            <a:ext cx="4114800" cy="29260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600" b="1">
                <a:solidFill>
                  <a:srgbClr val="0B1730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4434840"/>
            <a:ext cx="457200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Use unit tests for components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4764024"/>
            <a:ext cx="457200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Measure performance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5093208"/>
            <a:ext cx="457200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Test live failure and recovery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02  • 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0B1730"/>
                </a:solidFill>
                <a:latin typeface="Aptos Display"/>
              </a:defRPr>
            </a:pPr>
            <a:r>
              <a:t>Existing Approaches and Their Trade-offs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09728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52627A"/>
                </a:solidFill>
                <a:latin typeface="Aptos"/>
              </a:defRPr>
            </a:pPr>
            <a:r>
              <a:t>Centralized systems can also use redundancy; compare design trade-offs, not product quality.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52627A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1536192"/>
            <a:ext cx="2834640" cy="530352"/>
          </a:xfrm>
          <a:prstGeom prst="rect">
            <a:avLst/>
          </a:prstGeom>
          <a:solidFill>
            <a:srgbClr val="0B1730"/>
          </a:solidFill>
          <a:ln w="15240">
            <a:solidFill>
              <a:srgbClr val="0B1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73351"/>
            <a:ext cx="2615184" cy="21945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1536192"/>
            <a:ext cx="3794760" cy="530352"/>
          </a:xfrm>
          <a:prstGeom prst="rect">
            <a:avLst/>
          </a:prstGeom>
          <a:solidFill>
            <a:srgbClr val="0B1730"/>
          </a:solidFill>
          <a:ln w="15240">
            <a:solidFill>
              <a:srgbClr val="0B1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2736" y="1673351"/>
            <a:ext cx="3575304" cy="21945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Potential advantage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24344" y="1536192"/>
            <a:ext cx="4572000" cy="530352"/>
          </a:xfrm>
          <a:prstGeom prst="rect">
            <a:avLst/>
          </a:prstGeom>
          <a:solidFill>
            <a:srgbClr val="0B1730"/>
          </a:solidFill>
          <a:ln w="15240">
            <a:solidFill>
              <a:srgbClr val="0B1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34072" y="1673351"/>
            <a:ext cx="4352544" cy="21945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Potential limitation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2121408"/>
            <a:ext cx="283464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231136"/>
            <a:ext cx="2615184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1">
                <a:solidFill>
                  <a:srgbClr val="18243A"/>
                </a:solidFill>
                <a:latin typeface="Aptos"/>
              </a:defRPr>
            </a:pPr>
            <a:r>
              <a:t>Single machine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3008" y="2121408"/>
            <a:ext cx="37947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2736" y="2231136"/>
            <a:ext cx="3575304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Simple deployment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24344" y="2121408"/>
            <a:ext cx="45720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34072" y="2231136"/>
            <a:ext cx="4352544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Host failure may interrupt access to its copy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2916936"/>
            <a:ext cx="2834640" cy="713232"/>
          </a:xfrm>
          <a:prstGeom prst="rect">
            <a:avLst/>
          </a:prstGeom>
          <a:solidFill>
            <a:srgbClr val="E8F0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26664"/>
            <a:ext cx="2615184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1">
                <a:solidFill>
                  <a:srgbClr val="18243A"/>
                </a:solidFill>
                <a:latin typeface="Aptos"/>
              </a:defRPr>
            </a:pPr>
            <a:r>
              <a:t>Centralized service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3008" y="2916936"/>
            <a:ext cx="3794760" cy="713232"/>
          </a:xfrm>
          <a:prstGeom prst="rect">
            <a:avLst/>
          </a:prstGeom>
          <a:solidFill>
            <a:srgbClr val="E8F0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2736" y="3026664"/>
            <a:ext cx="3575304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Straightforward coordination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24344" y="2916936"/>
            <a:ext cx="4572000" cy="713232"/>
          </a:xfrm>
          <a:prstGeom prst="rect">
            <a:avLst/>
          </a:prstGeom>
          <a:solidFill>
            <a:srgbClr val="E8F0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34072" y="3026664"/>
            <a:ext cx="4352544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Control service may be a bottleneck or dependency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712463"/>
            <a:ext cx="283464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822191"/>
            <a:ext cx="2615184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1">
                <a:solidFill>
                  <a:srgbClr val="18243A"/>
                </a:solidFill>
                <a:latin typeface="Aptos"/>
              </a:defRPr>
            </a:pPr>
            <a:r>
              <a:t>Distributed, no replicas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93008" y="3712463"/>
            <a:ext cx="37947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02736" y="3822191"/>
            <a:ext cx="3575304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Data spread across nodes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24344" y="3712463"/>
            <a:ext cx="45720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34072" y="3822191"/>
            <a:ext cx="4352544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Node loss can make its portion unavailable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" y="4507992"/>
            <a:ext cx="2834640" cy="713232"/>
          </a:xfrm>
          <a:prstGeom prst="rect">
            <a:avLst/>
          </a:prstGeom>
          <a:solidFill>
            <a:srgbClr val="E8F0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617720"/>
            <a:ext cx="2615184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1">
                <a:solidFill>
                  <a:srgbClr val="18243A"/>
                </a:solidFill>
                <a:latin typeface="Aptos"/>
              </a:defRPr>
            </a:pPr>
            <a:r>
              <a:t>Distributed + replicas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93008" y="4507992"/>
            <a:ext cx="3794760" cy="713232"/>
          </a:xfrm>
          <a:prstGeom prst="rect">
            <a:avLst/>
          </a:prstGeom>
          <a:solidFill>
            <a:srgbClr val="E8F0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02736" y="4617720"/>
            <a:ext cx="3575304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Alternate copies may aid availability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24344" y="4507992"/>
            <a:ext cx="4572000" cy="713232"/>
          </a:xfrm>
          <a:prstGeom prst="rect">
            <a:avLst/>
          </a:prstGeom>
          <a:solidFill>
            <a:srgbClr val="E8F0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34072" y="4617720"/>
            <a:ext cx="4352544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More storage, traffic, and coordination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285232"/>
            <a:ext cx="10515600" cy="4572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400" b="1">
                <a:solidFill>
                  <a:srgbClr val="0B1730"/>
                </a:solidFill>
                <a:latin typeface="Aptos"/>
              </a:defRPr>
            </a:pPr>
            <a:r>
              <a:t>This project explores the final row as a prototype; it makes no benchmark or superiority claim.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02  • 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0B1730"/>
                </a:solidFill>
                <a:latin typeface="Aptos Display"/>
              </a:defRPr>
            </a:pPr>
            <a:r>
              <a:t>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09728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52627A"/>
                </a:solidFill>
                <a:latin typeface="Aptos"/>
              </a:defRPr>
            </a:pPr>
            <a:r>
              <a:t>A coordinator-led local prototype combines storage, metadata, integrity checks, and repair logic.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52627A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1600200" cy="932688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121408"/>
            <a:ext cx="149047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300" b="1">
                <a:solidFill>
                  <a:srgbClr val="0B1730"/>
                </a:solidFill>
                <a:latin typeface="Aptos"/>
              </a:defRPr>
            </a:pPr>
            <a: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5" y="2414016"/>
            <a:ext cx="1435608" cy="4846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HTTP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011680"/>
            <a:ext cx="1828800" cy="932688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6664" y="2121408"/>
            <a:ext cx="171907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300" b="1">
                <a:solidFill>
                  <a:srgbClr val="0B1730"/>
                </a:solidFill>
                <a:latin typeface="Aptos"/>
              </a:defRPr>
            </a:pPr>
            <a:r>
              <a:t>Flask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414016"/>
            <a:ext cx="1664208" cy="4846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upload / download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2011680"/>
            <a:ext cx="1828800" cy="932688"/>
          </a:xfrm>
          <a:prstGeom prst="roundRect">
            <a:avLst/>
          </a:prstGeom>
          <a:solidFill>
            <a:srgbClr val="E4F7F5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32703" y="2121408"/>
            <a:ext cx="171907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300" b="1">
                <a:solidFill>
                  <a:srgbClr val="0B1730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0136" y="2414016"/>
            <a:ext cx="1664208" cy="4846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metadata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1371600"/>
            <a:ext cx="1828800" cy="960120"/>
          </a:xfrm>
          <a:prstGeom prst="roundRect">
            <a:avLst/>
          </a:prstGeom>
          <a:solidFill>
            <a:srgbClr val="E4F7F5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87384" y="1481328"/>
            <a:ext cx="171907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300" b="1">
                <a:solidFill>
                  <a:srgbClr val="0B1730"/>
                </a:solidFill>
                <a:latin typeface="Aptos"/>
              </a:defRPr>
            </a:pPr>
            <a:r>
              <a:t>N1 + N2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816" y="1773936"/>
            <a:ext cx="1664208" cy="51206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ACTIVE • R=2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3200400"/>
            <a:ext cx="1828800" cy="960120"/>
          </a:xfrm>
          <a:prstGeom prst="roundRect">
            <a:avLst/>
          </a:prstGeom>
          <a:solidFill>
            <a:srgbClr val="FFF4D6"/>
          </a:solidFill>
          <a:ln w="15240">
            <a:solidFill>
              <a:srgbClr val="F2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87384" y="3310128"/>
            <a:ext cx="171907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300" b="1">
                <a:solidFill>
                  <a:srgbClr val="0B1730"/>
                </a:solidFill>
                <a:latin typeface="Aptos"/>
              </a:defRPr>
            </a:pPr>
            <a:r>
              <a:t>N3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4816" y="3602736"/>
            <a:ext cx="1664208" cy="51206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STANDBY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40280" y="2468880"/>
            <a:ext cx="7315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00600" y="2468880"/>
            <a:ext cx="777240" cy="0"/>
          </a:xfrm>
          <a:prstGeom prst="line">
            <a:avLst/>
          </a:prstGeom>
          <a:ln w="2540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800600" y="1828800"/>
            <a:ext cx="3931920" cy="384048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800600" y="2651760"/>
            <a:ext cx="3931920" cy="960120"/>
          </a:xfrm>
          <a:prstGeom prst="line">
            <a:avLst/>
          </a:prstGeom>
          <a:ln w="254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331720" y="4526280"/>
            <a:ext cx="7498079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500" b="1">
                <a:solidFill>
                  <a:srgbClr val="0B1730"/>
                </a:solidFill>
                <a:latin typeface="Aptos"/>
              </a:defRPr>
            </a:pPr>
            <a:r>
              <a:t>Design intent: retain alternate encrypted chunks and use node-health information to guide retrieval and attempted repair.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5349240"/>
            <a:ext cx="7498079" cy="2743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0">
                <a:solidFill>
                  <a:srgbClr val="52627A"/>
                </a:solidFill>
                <a:latin typeface="Aptos"/>
              </a:defRPr>
            </a:pPr>
            <a:r>
              <a:t>Code fact: upload requires at least two ACTIVE nodes; N3 begins as STANDBY.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03  • 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0B1730"/>
                </a:solidFill>
                <a:latin typeface="Aptos Display"/>
              </a:defRPr>
            </a:pPr>
            <a:r>
              <a:t>Functional and Non-Functional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09728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52627A"/>
                </a:solidFill>
                <a:latin typeface="Aptos"/>
              </a:defRPr>
            </a:pPr>
            <a:r>
              <a:t>Requirements indicate desired behavior; code and test scope determine the evidence 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52627A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2578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54480"/>
            <a:ext cx="64008" cy="4114800"/>
          </a:xfrm>
          <a:prstGeom prst="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82495"/>
            <a:ext cx="4928616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0B1730"/>
                </a:solidFill>
                <a:latin typeface="Aptos"/>
              </a:defRPr>
            </a:pPr>
            <a:r>
              <a:t>Functional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93976"/>
            <a:ext cx="487375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 POST /files accepts multipart field file.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24328"/>
            <a:ext cx="487375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 GET /files/&lt;id&gt; returns reconstructed bytes.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154680"/>
            <a:ext cx="487375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 GET /status reports node metadata.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685032"/>
            <a:ext cx="487375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 TCP nodes support STORE and FETCH.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215384"/>
            <a:ext cx="487375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 Heartbeats update coordinator-side liveness.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745736"/>
            <a:ext cx="487375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 Repair copies affected chunks when a source and standby are available.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554480"/>
            <a:ext cx="52578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554480"/>
            <a:ext cx="64008" cy="411480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82495"/>
            <a:ext cx="4928616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0B1730"/>
                </a:solidFill>
                <a:latin typeface="Aptos"/>
              </a:defRPr>
            </a:pPr>
            <a:r>
              <a:t>Quality attributes to 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2093976"/>
            <a:ext cx="487375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 Integrity: compare expected and computed hashes.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2624328"/>
            <a:ext cx="487375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 Availability: test retrieval after selected failures.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3154680"/>
            <a:ext cx="487375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 Security: use encryption; review key and transport handling.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3685032"/>
            <a:ext cx="487375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 Performance: measure request latency and throughput.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4215384"/>
            <a:ext cx="487375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 Maintainability: separate API, storage, metadata, and helpers.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4745736"/>
            <a:ext cx="487375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 Evidence status: no benchmark or end-to-end recovery run yet.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03  •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0B1730"/>
                </a:solidFill>
                <a:latin typeface="Aptos Display"/>
              </a:defRPr>
            </a:pPr>
            <a:r>
              <a:t>High-Level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09728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52627A"/>
                </a:solidFill>
                <a:latin typeface="Aptos"/>
              </a:defRPr>
            </a:pPr>
            <a:r>
              <a:t>Data plane and control plane are separated; arrows show the inspected coordinator-mediated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52627A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2788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36192"/>
            <a:ext cx="1828800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ptos"/>
              </a:defRPr>
            </a:pPr>
            <a:r>
              <a:t>DATA PLANE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110642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517136"/>
            <a:ext cx="1828800" cy="1828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1">
                <a:solidFill>
                  <a:srgbClr val="11B5AE"/>
                </a:solidFill>
                <a:latin typeface="Aptos"/>
              </a:defRPr>
            </a:pPr>
            <a:r>
              <a:t>CONTROL PLANE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31720"/>
            <a:ext cx="1371600" cy="786384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441448"/>
            <a:ext cx="126187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200" b="1">
                <a:solidFill>
                  <a:srgbClr val="0B1730"/>
                </a:solidFill>
                <a:latin typeface="Aptos"/>
              </a:defRPr>
            </a:pPr>
            <a:r>
              <a:t>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734056"/>
            <a:ext cx="1207008" cy="33832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HTTP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2103120"/>
            <a:ext cx="1828800" cy="109728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43784" y="2212848"/>
            <a:ext cx="171907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200" b="1">
                <a:solidFill>
                  <a:srgbClr val="0B1730"/>
                </a:solidFill>
                <a:latin typeface="Aptos"/>
              </a:defRPr>
            </a:pPr>
            <a:r>
              <a:t>Flask coordinator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5" y="2505456"/>
            <a:ext cx="1664208" cy="64922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app.py / storage.py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2240280"/>
            <a:ext cx="1600200" cy="868680"/>
          </a:xfrm>
          <a:prstGeom prst="roundRect">
            <a:avLst/>
          </a:prstGeom>
          <a:solidFill>
            <a:srgbClr val="E4F7F5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41264" y="2350008"/>
            <a:ext cx="149047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300" b="1">
                <a:solidFill>
                  <a:srgbClr val="0B1730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68696" y="2642616"/>
            <a:ext cx="1435608" cy="420623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5 metadata tables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783080"/>
            <a:ext cx="1325880" cy="868680"/>
          </a:xfrm>
          <a:prstGeom prst="roundRect">
            <a:avLst/>
          </a:prstGeom>
          <a:solidFill>
            <a:srgbClr val="E4F7F5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4" y="1892807"/>
            <a:ext cx="121615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300" b="1">
                <a:solidFill>
                  <a:srgbClr val="0B1730"/>
                </a:solidFill>
                <a:latin typeface="Aptos"/>
              </a:defRPr>
            </a:pPr>
            <a:r>
              <a:t>N1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2185416"/>
            <a:ext cx="1161288" cy="420623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ACTIVE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1783080"/>
            <a:ext cx="1325880" cy="868680"/>
          </a:xfrm>
          <a:prstGeom prst="roundRect">
            <a:avLst/>
          </a:prstGeom>
          <a:solidFill>
            <a:srgbClr val="E4F7F5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76104" y="1892807"/>
            <a:ext cx="121615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300" b="1">
                <a:solidFill>
                  <a:srgbClr val="0B1730"/>
                </a:solidFill>
                <a:latin typeface="Aptos"/>
              </a:defRPr>
            </a:pPr>
            <a:r>
              <a:t>N2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3536" y="2185416"/>
            <a:ext cx="1161288" cy="420623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ACTIVE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2880360"/>
            <a:ext cx="1463040" cy="822960"/>
          </a:xfrm>
          <a:prstGeom prst="roundRect">
            <a:avLst/>
          </a:prstGeom>
          <a:solidFill>
            <a:srgbClr val="FFF4D6"/>
          </a:solidFill>
          <a:ln w="15240">
            <a:solidFill>
              <a:srgbClr val="F2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990088"/>
            <a:ext cx="135331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300" b="1">
                <a:solidFill>
                  <a:srgbClr val="0B1730"/>
                </a:solidFill>
                <a:latin typeface="Aptos"/>
              </a:defRPr>
            </a:pPr>
            <a:r>
              <a:t>N3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3282696"/>
            <a:ext cx="1298448" cy="37490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STANDBY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194560" y="2670048"/>
            <a:ext cx="59436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617720" y="2560320"/>
            <a:ext cx="868680" cy="0"/>
          </a:xfrm>
          <a:prstGeom prst="line">
            <a:avLst/>
          </a:prstGeom>
          <a:ln w="2540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617720" y="2148840"/>
            <a:ext cx="3611880" cy="246888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617720" y="2331720"/>
            <a:ext cx="5303520" cy="429768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617720" y="3017520"/>
            <a:ext cx="4434840" cy="228600"/>
          </a:xfrm>
          <a:prstGeom prst="line">
            <a:avLst/>
          </a:prstGeom>
          <a:ln w="254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60120" y="4892040"/>
            <a:ext cx="2057400" cy="640080"/>
          </a:xfrm>
          <a:prstGeom prst="roundRect">
            <a:avLst/>
          </a:prstGeom>
          <a:solidFill>
            <a:srgbClr val="E4F7F5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4984" y="5001768"/>
            <a:ext cx="194767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Heartbeat listener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" y="5294376"/>
            <a:ext cx="1892807" cy="192023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TCP :6100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77639" y="4892040"/>
            <a:ext cx="2286000" cy="640080"/>
          </a:xfrm>
          <a:prstGeom prst="roundRect">
            <a:avLst/>
          </a:prstGeom>
          <a:solidFill>
            <a:srgbClr val="FFF4D6"/>
          </a:solidFill>
          <a:ln w="15240">
            <a:solidFill>
              <a:srgbClr val="F2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32503" y="5001768"/>
            <a:ext cx="217627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Failure detector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59935" y="5294376"/>
            <a:ext cx="2121408" cy="192023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1 s scan • 4 s timeout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06640" y="4892040"/>
            <a:ext cx="3474720" cy="640080"/>
          </a:xfrm>
          <a:prstGeom prst="roundRect">
            <a:avLst/>
          </a:prstGeom>
          <a:solidFill>
            <a:srgbClr val="E6F5EE"/>
          </a:solidFill>
          <a:ln w="15240">
            <a:solidFill>
              <a:srgbClr val="248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61504" y="5001768"/>
            <a:ext cx="3364991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Replica repair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88936" y="5294376"/>
            <a:ext cx="3310127" cy="192023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survivor → standby after ACK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017520" y="5212080"/>
            <a:ext cx="960119" cy="0"/>
          </a:xfrm>
          <a:prstGeom prst="line">
            <a:avLst/>
          </a:prstGeom>
          <a:ln w="2540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263640" y="5212080"/>
            <a:ext cx="1143000" cy="0"/>
          </a:xfrm>
          <a:prstGeom prst="line">
            <a:avLst/>
          </a:prstGeom>
          <a:ln w="2540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3017520" y="3703320"/>
            <a:ext cx="6080760" cy="1508760"/>
          </a:xfrm>
          <a:prstGeom prst="line">
            <a:avLst/>
          </a:prstGeom>
          <a:ln w="17780">
            <a:solidFill>
              <a:srgbClr val="248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72000" y="4133087"/>
            <a:ext cx="25146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800" b="1">
                <a:solidFill>
                  <a:srgbClr val="248A63"/>
                </a:solidFill>
                <a:latin typeface="Aptos"/>
              </a:defRPr>
            </a:pPr>
            <a:r>
              <a:t>heartbeats from N1–N3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4114800"/>
            <a:ext cx="329184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800" b="0">
                <a:solidFill>
                  <a:srgbClr val="52627A"/>
                </a:solidFill>
                <a:latin typeface="Aptos"/>
              </a:defRPr>
            </a:pPr>
            <a:r>
              <a:t>TCP node ports 6001–6003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1554480"/>
            <a:ext cx="123444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2563EB"/>
                </a:solidFill>
                <a:latin typeface="Aptos"/>
              </a:defRPr>
            </a:pPr>
            <a:r>
              <a:t>DATA: blue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1755648"/>
            <a:ext cx="123444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11B5AE"/>
                </a:solidFill>
                <a:latin typeface="Aptos"/>
              </a:defRPr>
            </a:pPr>
            <a:r>
              <a:t>METADATA: teal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1956816"/>
            <a:ext cx="123444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F2A900"/>
                </a:solidFill>
                <a:latin typeface="Aptos"/>
              </a:defRPr>
            </a:pPr>
            <a:r>
              <a:t>REPAIR: amber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2157984"/>
            <a:ext cx="123444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248A63"/>
                </a:solidFill>
                <a:latin typeface="Aptos"/>
              </a:defRPr>
            </a:pPr>
            <a:r>
              <a:t>HEARTBEAT: green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5952744"/>
            <a:ext cx="105156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800" b="0">
                <a:solidFill>
                  <a:srgbClr val="52627A"/>
                </a:solidFill>
                <a:latin typeface="Aptos"/>
              </a:defRPr>
            </a:pPr>
            <a:r>
              <a:t>Implementation note: nodes are coordinator-managed; peer discovery and node-to-node coordination are not implemented.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6208776"/>
            <a:ext cx="3840480" cy="15544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700" b="0">
                <a:solidFill>
                  <a:srgbClr val="52627A"/>
                </a:solidFill>
                <a:latin typeface="Aptos"/>
              </a:defRPr>
            </a:pPr>
            <a:r>
              <a:t>Code: app.py • storage.py • heartbeat_monitor.py • node_process.py • refs [1–3, 7]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03  • 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0B1730"/>
                </a:solidFill>
                <a:latin typeface="Aptos Display"/>
              </a:defRPr>
            </a:pPr>
            <a:r>
              <a:t>Major Modules and Source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09728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52627A"/>
                </a:solidFill>
                <a:latin typeface="Aptos"/>
              </a:defRPr>
            </a:pPr>
            <a:r>
              <a:t>Module names and functions below are present in the repository.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52627A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525780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59" y="1545336"/>
            <a:ext cx="1417320" cy="310896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09344"/>
            <a:ext cx="132588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Aptos"/>
              </a:defRPr>
            </a:pPr>
            <a:r>
              <a:t>API /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9152" y="1563624"/>
            <a:ext cx="3364992" cy="6217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0">
                <a:solidFill>
                  <a:srgbClr val="18243A"/>
                </a:solidFill>
                <a:latin typeface="Aptos"/>
              </a:defRPr>
            </a:pPr>
            <a:r>
              <a:t>coordinator/app.py • upload(), download(), status()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417320"/>
            <a:ext cx="525780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55664" y="1545336"/>
            <a:ext cx="1417320" cy="310896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3" y="1609344"/>
            <a:ext cx="132588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1856" y="1563624"/>
            <a:ext cx="3364992" cy="6217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0">
                <a:solidFill>
                  <a:srgbClr val="18243A"/>
                </a:solidFill>
                <a:latin typeface="Aptos"/>
              </a:defRPr>
            </a:pPr>
            <a:r>
              <a:t>coordinator/storage.py • upload_bytes(), download_bytes()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542032"/>
            <a:ext cx="525780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59" y="2670048"/>
            <a:ext cx="1417320" cy="310896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734056"/>
            <a:ext cx="132588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Aptos"/>
              </a:defRPr>
            </a:pPr>
            <a:r>
              <a:t>Metadata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2688336"/>
            <a:ext cx="3364992" cy="6217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0">
                <a:solidFill>
                  <a:srgbClr val="18243A"/>
                </a:solidFill>
                <a:latin typeface="Aptos"/>
              </a:defRPr>
            </a:pPr>
            <a:r>
              <a:t>coordinator/db.py • init_db(), file/chunk/replica helpers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2542032"/>
            <a:ext cx="525780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55664" y="2670048"/>
            <a:ext cx="1417320" cy="310896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3" y="2734056"/>
            <a:ext cx="132588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Aptos"/>
              </a:defRPr>
            </a:pPr>
            <a:r>
              <a:t>TCP 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1856" y="2688336"/>
            <a:ext cx="3364992" cy="6217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0">
                <a:solidFill>
                  <a:srgbClr val="18243A"/>
                </a:solidFill>
                <a:latin typeface="Aptos"/>
              </a:defRPr>
            </a:pPr>
            <a:r>
              <a:t>coordinator/node_client.py • store_chunk(), fetch_chunk()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666744"/>
            <a:ext cx="525780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59" y="3794759"/>
            <a:ext cx="1417320" cy="310896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858768"/>
            <a:ext cx="132588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Aptos"/>
              </a:defRPr>
            </a:pPr>
            <a:r>
              <a:t>Storage node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9152" y="3813048"/>
            <a:ext cx="3364992" cy="6217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0">
                <a:solidFill>
                  <a:srgbClr val="18243A"/>
                </a:solidFill>
                <a:latin typeface="Aptos"/>
              </a:defRPr>
            </a:pPr>
            <a:r>
              <a:t>node/node_process.py • STORE/FETCH server + heartbeat_loop()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3666744"/>
            <a:ext cx="525780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55664" y="3794759"/>
            <a:ext cx="1417320" cy="310896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1383" y="3858768"/>
            <a:ext cx="132588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Aptos"/>
              </a:defRPr>
            </a:pPr>
            <a:r>
              <a:t>Chunk / crypto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3813048"/>
            <a:ext cx="3364992" cy="6217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0">
                <a:solidFill>
                  <a:srgbClr val="18243A"/>
                </a:solidFill>
                <a:latin typeface="Aptos"/>
              </a:defRPr>
            </a:pPr>
            <a:r>
              <a:t>chunking.py • split_file(); crypto.py • aes_encrypt(), aes_decrypt()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791456"/>
            <a:ext cx="525780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59" y="4919472"/>
            <a:ext cx="1417320" cy="310896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983480"/>
            <a:ext cx="132588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Aptos"/>
              </a:defRPr>
            </a:pPr>
            <a:r>
              <a:t>Integrity / audit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59152" y="4937760"/>
            <a:ext cx="3364992" cy="6217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0">
                <a:solidFill>
                  <a:srgbClr val="18243A"/>
                </a:solidFill>
                <a:latin typeface="Aptos"/>
              </a:defRPr>
            </a:pPr>
            <a:r>
              <a:t>merkle.py • build_merkle_root(); audit.py • append/verify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91072" y="4791456"/>
            <a:ext cx="525780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55664" y="4919472"/>
            <a:ext cx="1417320" cy="310896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01383" y="4983480"/>
            <a:ext cx="132588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Aptos"/>
              </a:defRPr>
            </a:pPr>
            <a:r>
              <a:t>Health / repair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91856" y="4937760"/>
            <a:ext cx="3364992" cy="6217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0">
                <a:solidFill>
                  <a:srgbClr val="18243A"/>
                </a:solidFill>
                <a:latin typeface="Aptos"/>
              </a:defRPr>
            </a:pPr>
            <a:r>
              <a:t>heartbeat_monitor.py • check_all_nodes_once(); recovery.py • recover_failed_node()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04  •  DATA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0B1730"/>
                </a:solidFill>
                <a:latin typeface="Aptos Display"/>
              </a:defRPr>
            </a:pPr>
            <a:r>
              <a:t>File Upload and Storage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09728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52627A"/>
                </a:solidFill>
                <a:latin typeface="Aptos"/>
              </a:defRPr>
            </a:pPr>
            <a:r>
              <a:t>Metadata is persisted only after all replica STORE acknowledgements succeed.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52627A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874519"/>
            <a:ext cx="14173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984248"/>
            <a:ext cx="130759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1 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2276856"/>
            <a:ext cx="1252728" cy="78638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POST /files</a:t>
            </a:r>
            <a:br/>
            <a:r>
              <a:t>multipart: file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56232" y="2496312"/>
            <a:ext cx="228600" cy="0"/>
          </a:xfrm>
          <a:prstGeom prst="line">
            <a:avLst/>
          </a:prstGeom>
          <a:ln w="1905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12264" y="1874519"/>
            <a:ext cx="14173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67128" y="1984248"/>
            <a:ext cx="130759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2  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276856"/>
            <a:ext cx="1252728" cy="78638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field present</a:t>
            </a:r>
            <a:br/>
            <a:r>
              <a:t>2 ACTIVE nodes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29584" y="2496312"/>
            <a:ext cx="228600" cy="0"/>
          </a:xfrm>
          <a:prstGeom prst="line">
            <a:avLst/>
          </a:prstGeom>
          <a:ln w="1905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785616" y="1874519"/>
            <a:ext cx="14173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1984248"/>
            <a:ext cx="130759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3  Chunk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67912" y="2276856"/>
            <a:ext cx="1252728" cy="78638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split_file</a:t>
            </a:r>
            <a:br/>
            <a:r>
              <a:t>1 MiB pieces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202936" y="2496312"/>
            <a:ext cx="228600" cy="0"/>
          </a:xfrm>
          <a:prstGeom prst="line">
            <a:avLst/>
          </a:prstGeom>
          <a:ln w="1905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58968" y="1874519"/>
            <a:ext cx="14173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13832" y="1984248"/>
            <a:ext cx="130759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4  Protect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41264" y="2276856"/>
            <a:ext cx="1252728" cy="78638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AES-GCM</a:t>
            </a:r>
            <a:br/>
            <a:r>
              <a:t>Merkle root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76288" y="2496312"/>
            <a:ext cx="228600" cy="0"/>
          </a:xfrm>
          <a:prstGeom prst="line">
            <a:avLst/>
          </a:prstGeom>
          <a:ln w="1905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132320" y="1874519"/>
            <a:ext cx="14173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87184" y="1984248"/>
            <a:ext cx="130759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5  Place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4616" y="2276856"/>
            <a:ext cx="1252728" cy="78638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replica_set</a:t>
            </a:r>
            <a:br/>
            <a:r>
              <a:t>2 nodes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549640" y="2496312"/>
            <a:ext cx="228600" cy="0"/>
          </a:xfrm>
          <a:prstGeom prst="line">
            <a:avLst/>
          </a:prstGeom>
          <a:ln w="1905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805672" y="1874519"/>
            <a:ext cx="14173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0536" y="1984248"/>
            <a:ext cx="130759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6  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7968" y="2276856"/>
            <a:ext cx="1252728" cy="78638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TCP STORE</a:t>
            </a:r>
            <a:br/>
            <a:r>
              <a:t>ACK each copy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222992" y="2496312"/>
            <a:ext cx="228600" cy="0"/>
          </a:xfrm>
          <a:prstGeom prst="line">
            <a:avLst/>
          </a:prstGeom>
          <a:ln w="1905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479024" y="1874519"/>
            <a:ext cx="14173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33888" y="1984248"/>
            <a:ext cx="130759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7  Record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2276856"/>
            <a:ext cx="1252728" cy="78638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SQLite rows</a:t>
            </a:r>
            <a:br/>
            <a:r>
              <a:t>UPLOAD audit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703320"/>
            <a:ext cx="5120640" cy="1234440"/>
          </a:xfrm>
          <a:prstGeom prst="roundRect">
            <a:avLst/>
          </a:prstGeom>
          <a:solidFill>
            <a:srgbClr val="E6F5EE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3703320"/>
            <a:ext cx="64008" cy="1234440"/>
          </a:xfrm>
          <a:prstGeom prst="rect">
            <a:avLst/>
          </a:prstGeom>
          <a:solidFill>
            <a:srgbClr val="248A63"/>
          </a:solidFill>
          <a:ln w="15240">
            <a:solidFill>
              <a:srgbClr val="248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3831335"/>
            <a:ext cx="4791455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0B1730"/>
                </a:solidFill>
                <a:latin typeface="Aptos"/>
              </a:defRPr>
            </a:pPr>
            <a:r>
              <a:t>Success condition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4242816"/>
            <a:ext cx="4736592" cy="61264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Each chunk is acknowledged by both selected nodes before file/chunk/replica metadata is inserted.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3703320"/>
            <a:ext cx="5120640" cy="1234440"/>
          </a:xfrm>
          <a:prstGeom prst="roundRect">
            <a:avLst/>
          </a:prstGeom>
          <a:solidFill>
            <a:srgbClr val="FFF4D6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3703320"/>
            <a:ext cx="64008" cy="1234440"/>
          </a:xfrm>
          <a:prstGeom prst="rect">
            <a:avLst/>
          </a:prstGeom>
          <a:solidFill>
            <a:srgbClr val="F2A900"/>
          </a:solidFill>
          <a:ln w="15240">
            <a:solidFill>
              <a:srgbClr val="F2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3831335"/>
            <a:ext cx="4791455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0B1730"/>
                </a:solidFill>
                <a:latin typeface="Aptos"/>
              </a:defRPr>
            </a:pPr>
            <a:r>
              <a:t>Failure nuance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4807" y="4242816"/>
            <a:ext cx="4736592" cy="61264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A failed later store can leave orphaned node files; the incomplete file is not made visible in metadata.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6208776"/>
            <a:ext cx="3840480" cy="15544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700" b="0">
                <a:solidFill>
                  <a:srgbClr val="52627A"/>
                </a:solidFill>
                <a:latin typeface="Aptos"/>
              </a:defRPr>
            </a:pPr>
            <a:r>
              <a:t>Source: coordinator/app.py • storage.py • placement.py • node_client.py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04  •  DATA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0B1730"/>
                </a:solidFill>
                <a:latin typeface="Aptos Display"/>
              </a:defRPr>
            </a:pPr>
            <a:r>
              <a:t>File Retrieval and Reconstruction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09728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52627A"/>
                </a:solidFill>
                <a:latin typeface="Aptos"/>
              </a:defRPr>
            </a:pPr>
            <a:r>
              <a:t>Verification order follows coordinator/storage.py.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52627A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874519"/>
            <a:ext cx="14173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984248"/>
            <a:ext cx="130759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1 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2276856"/>
            <a:ext cx="1252728" cy="78638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GET /files/&lt;id&gt;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56232" y="2496312"/>
            <a:ext cx="228600" cy="0"/>
          </a:xfrm>
          <a:prstGeom prst="line">
            <a:avLst/>
          </a:prstGeom>
          <a:ln w="1905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12264" y="1874519"/>
            <a:ext cx="14173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67128" y="1984248"/>
            <a:ext cx="130759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2  Lookup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276856"/>
            <a:ext cx="1252728" cy="78638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file + ordered chunks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29584" y="2496312"/>
            <a:ext cx="228600" cy="0"/>
          </a:xfrm>
          <a:prstGeom prst="line">
            <a:avLst/>
          </a:prstGeom>
          <a:ln w="1905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785616" y="1874519"/>
            <a:ext cx="14173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1984248"/>
            <a:ext cx="130759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3  Fetch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67912" y="2276856"/>
            <a:ext cx="1252728" cy="78638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try replicas not DOWN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202936" y="2496312"/>
            <a:ext cx="228600" cy="0"/>
          </a:xfrm>
          <a:prstGeom prst="line">
            <a:avLst/>
          </a:prstGeom>
          <a:ln w="1905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58968" y="1874519"/>
            <a:ext cx="14173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8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13832" y="1984248"/>
            <a:ext cx="130759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4 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41264" y="2276856"/>
            <a:ext cx="1252728" cy="78638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SHA-256 encrypted bytes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76288" y="2496312"/>
            <a:ext cx="228600" cy="0"/>
          </a:xfrm>
          <a:prstGeom prst="line">
            <a:avLst/>
          </a:prstGeom>
          <a:ln w="1905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132320" y="1874519"/>
            <a:ext cx="14173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8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87184" y="1984248"/>
            <a:ext cx="130759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5  Decrypt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4616" y="2276856"/>
            <a:ext cx="1252728" cy="78638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AES-GCM authentication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549640" y="2496312"/>
            <a:ext cx="228600" cy="0"/>
          </a:xfrm>
          <a:prstGeom prst="line">
            <a:avLst/>
          </a:prstGeom>
          <a:ln w="1905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805672" y="1874519"/>
            <a:ext cx="14173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8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0536" y="1984248"/>
            <a:ext cx="130759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6  Aggregate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7968" y="2276856"/>
            <a:ext cx="1252728" cy="78638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Merkle root over cipher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222992" y="2496312"/>
            <a:ext cx="228600" cy="0"/>
          </a:xfrm>
          <a:prstGeom prst="line">
            <a:avLst/>
          </a:prstGeom>
          <a:ln w="1905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479024" y="1874519"/>
            <a:ext cx="14173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8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33888" y="1984248"/>
            <a:ext cx="130759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7  Rebuild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2276856"/>
            <a:ext cx="1252728" cy="78638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join + size check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730752"/>
            <a:ext cx="5120640" cy="1234440"/>
          </a:xfrm>
          <a:prstGeom prst="roundRect">
            <a:avLst/>
          </a:prstGeom>
          <a:solidFill>
            <a:srgbClr val="E4F7F5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3730752"/>
            <a:ext cx="64008" cy="123444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3858768"/>
            <a:ext cx="4791455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0B1730"/>
                </a:solidFill>
                <a:latin typeface="Aptos"/>
              </a:defRPr>
            </a:pPr>
            <a:r>
              <a:t>Fallback behavior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4270248"/>
            <a:ext cx="4736592" cy="61264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Missing, unreachable, or hash-mismatched replicas are skipped while another mapped copy is available.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3730752"/>
            <a:ext cx="5120640" cy="1234440"/>
          </a:xfrm>
          <a:prstGeom prst="roundRect">
            <a:avLst/>
          </a:prstGeom>
          <a:solidFill>
            <a:srgbClr val="FCEAE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3730752"/>
            <a:ext cx="64008" cy="1234440"/>
          </a:xfrm>
          <a:prstGeom prst="rect">
            <a:avLst/>
          </a:prstGeom>
          <a:solidFill>
            <a:srgbClr val="D94A4A"/>
          </a:solidFill>
          <a:ln w="15240">
            <a:solidFill>
              <a:srgbClr val="D9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3858768"/>
            <a:ext cx="4791455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0B1730"/>
                </a:solidFill>
                <a:latin typeface="Aptos"/>
              </a:defRPr>
            </a:pPr>
            <a:r>
              <a:t>Failure behavior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4807" y="4270248"/>
            <a:ext cx="4736592" cy="61264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No valid replica, GCM authentication failure, Merkle mismatch, or size mismatch prevents success.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6208776"/>
            <a:ext cx="3840480" cy="15544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700" b="0">
                <a:solidFill>
                  <a:srgbClr val="52627A"/>
                </a:solidFill>
                <a:latin typeface="Aptos"/>
              </a:defRPr>
            </a:pPr>
            <a:r>
              <a:t>Source: coordinator/storage.py • crypto.py • merkle.py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05  •  DATA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0B1730"/>
                </a:solidFill>
                <a:latin typeface="Aptos Display"/>
              </a:defRPr>
            </a:pPr>
            <a:r>
              <a:t>Chunking, Encryption, and Integrity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09728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52627A"/>
                </a:solidFill>
                <a:latin typeface="Aptos"/>
              </a:defRPr>
            </a:pPr>
            <a:r>
              <a:t>Encryption, authentication, and hash comparison have different roles.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52627A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828800"/>
            <a:ext cx="141732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938528"/>
            <a:ext cx="130759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2231136"/>
            <a:ext cx="1252728" cy="66751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original bytes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56232" y="2386584"/>
            <a:ext cx="210311" cy="0"/>
          </a:xfrm>
          <a:prstGeom prst="line">
            <a:avLst/>
          </a:prstGeom>
          <a:ln w="1778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03120" y="1828800"/>
            <a:ext cx="141732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57984" y="1938528"/>
            <a:ext cx="130759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Chunk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5415" y="2231136"/>
            <a:ext cx="1252728" cy="66751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1 MiB max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20439" y="2386584"/>
            <a:ext cx="210313" cy="0"/>
          </a:xfrm>
          <a:prstGeom prst="line">
            <a:avLst/>
          </a:prstGeom>
          <a:ln w="1778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767328" y="1828800"/>
            <a:ext cx="141732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22191" y="1938528"/>
            <a:ext cx="130759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Encrypt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9624" y="2231136"/>
            <a:ext cx="1252728" cy="66751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AES-256-GCM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84648" y="2386584"/>
            <a:ext cx="210312" cy="0"/>
          </a:xfrm>
          <a:prstGeom prst="line">
            <a:avLst/>
          </a:prstGeom>
          <a:ln w="1778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31536" y="1828800"/>
            <a:ext cx="141732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399" y="1938528"/>
            <a:ext cx="130759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Digest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13831" y="2231136"/>
            <a:ext cx="1252728" cy="66751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SHA-256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48855" y="2386584"/>
            <a:ext cx="210313" cy="0"/>
          </a:xfrm>
          <a:prstGeom prst="line">
            <a:avLst/>
          </a:prstGeom>
          <a:ln w="1778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095744" y="1828800"/>
            <a:ext cx="141732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7" y="1938528"/>
            <a:ext cx="130759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Merkle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231136"/>
            <a:ext cx="1252728" cy="66751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root over encrypted chunks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513064" y="2386584"/>
            <a:ext cx="210312" cy="0"/>
          </a:xfrm>
          <a:prstGeom prst="line">
            <a:avLst/>
          </a:prstGeom>
          <a:ln w="1778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759952" y="1828800"/>
            <a:ext cx="141732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14816" y="1938528"/>
            <a:ext cx="130759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42248" y="2231136"/>
            <a:ext cx="1252728" cy="66751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replicas + metadata</a:t>
            </a:r>
          </a:p>
        </p:txBody>
      </p:sp>
      <p:pic>
        <p:nvPicPr>
          <p:cNvPr id="31" name="Picture 30" descr="security_integ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46120"/>
            <a:ext cx="3200400" cy="201168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297680" y="3383280"/>
            <a:ext cx="324612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3383280"/>
            <a:ext cx="64008" cy="1508760"/>
          </a:xfrm>
          <a:prstGeom prst="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3511296"/>
            <a:ext cx="2916936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0B1730"/>
                </a:solidFill>
                <a:latin typeface="Aptos"/>
              </a:defRPr>
            </a:pPr>
            <a:r>
              <a:t>AES-GCM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3922776"/>
            <a:ext cx="2862072" cy="886967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Random 12-byte nonce and 16-byte tag; stored layout is nonce || ciphertext || tag.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09560" y="3383280"/>
            <a:ext cx="333756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09560" y="3383280"/>
            <a:ext cx="64008" cy="1508760"/>
          </a:xfrm>
          <a:prstGeom prst="rect">
            <a:avLst/>
          </a:prstGeom>
          <a:solidFill>
            <a:srgbClr val="248A63"/>
          </a:solidFill>
          <a:ln w="15240">
            <a:solidFill>
              <a:srgbClr val="248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2440" y="3511296"/>
            <a:ext cx="3008376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0B1730"/>
                </a:solidFill>
                <a:latin typeface="Aptos"/>
              </a:defRPr>
            </a:pPr>
            <a:r>
              <a:t>Checks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0728" y="3922776"/>
            <a:ext cx="2953512" cy="886967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SHA-256 compares encrypted chunk bytes. Merkle root summarizes the encrypted chunk sequence.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577840"/>
            <a:ext cx="10424160" cy="32918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200" b="1">
                <a:solidFill>
                  <a:srgbClr val="D94A4A"/>
                </a:solidFill>
                <a:latin typeface="Aptos"/>
              </a:defRPr>
            </a:pPr>
            <a:r>
              <a:t>Demo limitation: AES key is a static source-code constant; do not use it for sensitive data.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943600"/>
            <a:ext cx="1042416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800" b="0">
                <a:solidFill>
                  <a:srgbClr val="52627A"/>
                </a:solidFill>
                <a:latin typeface="Aptos"/>
              </a:defRPr>
            </a:pPr>
            <a:r>
              <a:t>Standards/API: AES [4] • SHA-256 [5] • PyCryptodome [6]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6208776"/>
            <a:ext cx="3840480" cy="15544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700" b="0">
                <a:solidFill>
                  <a:srgbClr val="52627A"/>
                </a:solidFill>
                <a:latin typeface="Aptos"/>
              </a:defRPr>
            </a:pPr>
            <a:r>
              <a:t>Source: config.py • crypto.py • chunking.py • storage.py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05  •  STORAGE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0B1730"/>
                </a:solidFill>
                <a:latin typeface="Aptos Display"/>
              </a:defRPr>
            </a:pPr>
            <a:r>
              <a:t>Replication and Deterministic Data 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09728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52627A"/>
                </a:solidFill>
                <a:latin typeface="Aptos"/>
              </a:defRPr>
            </a:pPr>
            <a:r>
              <a:t>Configured factor R=2; actual health still depends on successful stores and node availability.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52627A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65960"/>
            <a:ext cx="2011680" cy="105156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3" y="2075688"/>
            <a:ext cx="190195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300" b="1">
                <a:solidFill>
                  <a:srgbClr val="0B1730"/>
                </a:solidFill>
                <a:latin typeface="Aptos"/>
              </a:defRPr>
            </a:pPr>
            <a:r>
              <a:t>Chunk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368296"/>
            <a:ext cx="1847088" cy="603503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SHA-256 prefix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965960"/>
            <a:ext cx="24688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3" y="2075688"/>
            <a:ext cx="235915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300" b="1">
                <a:solidFill>
                  <a:srgbClr val="0B1730"/>
                </a:solidFill>
                <a:latin typeface="Aptos"/>
              </a:defRPr>
            </a:pPr>
            <a:r>
              <a:t>Placement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9896" y="2368296"/>
            <a:ext cx="2304288" cy="603503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first 8 bytes mod |ACTIVE|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8920" y="2487168"/>
            <a:ext cx="8686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52360" y="1417320"/>
            <a:ext cx="2011680" cy="960120"/>
          </a:xfrm>
          <a:prstGeom prst="roundRect">
            <a:avLst/>
          </a:prstGeom>
          <a:solidFill>
            <a:srgbClr val="E4F7F5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07224" y="1527048"/>
            <a:ext cx="190195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300" b="1">
                <a:solidFill>
                  <a:srgbClr val="0B1730"/>
                </a:solidFill>
                <a:latin typeface="Aptos"/>
              </a:defRPr>
            </a:pPr>
            <a:r>
              <a:t>N1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4656" y="1819656"/>
            <a:ext cx="1847088" cy="51206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ACTIVE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880360"/>
            <a:ext cx="2011680" cy="960120"/>
          </a:xfrm>
          <a:prstGeom prst="roundRect">
            <a:avLst/>
          </a:prstGeom>
          <a:solidFill>
            <a:srgbClr val="E4F7F5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990088"/>
            <a:ext cx="190195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300" b="1">
                <a:solidFill>
                  <a:srgbClr val="0B1730"/>
                </a:solidFill>
                <a:latin typeface="Aptos"/>
              </a:defRPr>
            </a:pPr>
            <a:r>
              <a:t>N2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4656" y="3282696"/>
            <a:ext cx="1847088" cy="51206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ACTIVE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6126480" y="1856231"/>
            <a:ext cx="1325880" cy="475489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26480" y="2633472"/>
            <a:ext cx="1325880" cy="704088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738360" y="2148840"/>
            <a:ext cx="1600200" cy="960120"/>
          </a:xfrm>
          <a:prstGeom prst="roundRect">
            <a:avLst/>
          </a:prstGeom>
          <a:solidFill>
            <a:srgbClr val="FFF4D6"/>
          </a:solidFill>
          <a:ln w="15240">
            <a:solidFill>
              <a:srgbClr val="F2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3224" y="2258568"/>
            <a:ext cx="149047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300" b="1">
                <a:solidFill>
                  <a:srgbClr val="0B1730"/>
                </a:solidFill>
                <a:latin typeface="Aptos"/>
              </a:defRPr>
            </a:pPr>
            <a:r>
              <a:t>N3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0656" y="2551176"/>
            <a:ext cx="1435608" cy="51206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STANDBY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64040" y="1874519"/>
            <a:ext cx="274320" cy="548641"/>
          </a:xfrm>
          <a:prstGeom prst="line">
            <a:avLst/>
          </a:prstGeom>
          <a:ln w="1905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464040" y="2788920"/>
            <a:ext cx="274320" cy="548640"/>
          </a:xfrm>
          <a:prstGeom prst="line">
            <a:avLst/>
          </a:prstGeom>
          <a:ln w="19050">
            <a:solidFill>
              <a:srgbClr val="F2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4400" y="4160520"/>
            <a:ext cx="103327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389120"/>
            <a:ext cx="987552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400" b="1">
                <a:solidFill>
                  <a:srgbClr val="0B1730"/>
                </a:solidFill>
                <a:latin typeface="Aptos"/>
              </a:defRPr>
            </a:pPr>
            <a:r>
              <a:t>primary = sorted_ACTIVE[index]     •     secondary = sorted_ACTIVE[(index + 1) mod n]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28032"/>
            <a:ext cx="996696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0">
                <a:solidFill>
                  <a:srgbClr val="52627A"/>
                </a:solidFill>
                <a:latin typeface="Aptos"/>
              </a:defRPr>
            </a:pPr>
            <a:r>
              <a:t>With the initial ACTIVE set {N1, N2}, every chunk is placed on both nodes. Upload refuses fewer than two ACTIVE nodes.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06  •  NODE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0B1730"/>
                </a:solidFill>
                <a:latin typeface="Aptos Display"/>
              </a:defRPr>
            </a:pPr>
            <a:r>
              <a:t>Heartbeat-Based Failure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09728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52627A"/>
                </a:solidFill>
                <a:latin typeface="Aptos"/>
              </a:defRPr>
            </a:pPr>
            <a:r>
              <a:t>Configured interval 1 s • timeout 4 s • detector scans once per interval.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52627A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2971800"/>
            <a:ext cx="10241280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371600" y="2816352"/>
            <a:ext cx="310896" cy="310896"/>
          </a:xfrm>
          <a:prstGeom prst="ellipse">
            <a:avLst/>
          </a:prstGeom>
          <a:solidFill>
            <a:srgbClr val="11B5AE"/>
          </a:solidFill>
          <a:ln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246120"/>
            <a:ext cx="777240" cy="2286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1">
                <a:solidFill>
                  <a:srgbClr val="52627A"/>
                </a:solidFill>
                <a:latin typeface="Aptos"/>
              </a:defRPr>
            </a:pPr>
            <a:r>
              <a:t>t₀</a:t>
            </a:r>
          </a:p>
        </p:txBody>
      </p:sp>
      <p:sp>
        <p:nvSpPr>
          <p:cNvPr id="11" name="Oval 10"/>
          <p:cNvSpPr/>
          <p:nvPr/>
        </p:nvSpPr>
        <p:spPr>
          <a:xfrm>
            <a:off x="3200400" y="2816352"/>
            <a:ext cx="310896" cy="310896"/>
          </a:xfrm>
          <a:prstGeom prst="ellipse">
            <a:avLst/>
          </a:prstGeom>
          <a:solidFill>
            <a:srgbClr val="11B5AE"/>
          </a:solidFill>
          <a:ln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3246120"/>
            <a:ext cx="777240" cy="2286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1">
                <a:solidFill>
                  <a:srgbClr val="52627A"/>
                </a:solidFill>
                <a:latin typeface="Aptos"/>
              </a:defRPr>
            </a:pPr>
            <a:r>
              <a:t>t₀+1s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0" y="2816352"/>
            <a:ext cx="310896" cy="310896"/>
          </a:xfrm>
          <a:prstGeom prst="ellipse">
            <a:avLst/>
          </a:prstGeom>
          <a:solidFill>
            <a:srgbClr val="11B5AE"/>
          </a:solidFill>
          <a:ln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3246120"/>
            <a:ext cx="777240" cy="2286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1">
                <a:solidFill>
                  <a:srgbClr val="52627A"/>
                </a:solidFill>
                <a:latin typeface="Aptos"/>
              </a:defRPr>
            </a:pPr>
            <a:r>
              <a:t>+2s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0" y="2816352"/>
            <a:ext cx="310896" cy="310896"/>
          </a:xfrm>
          <a:prstGeom prst="ellipse">
            <a:avLst/>
          </a:prstGeom>
          <a:solidFill>
            <a:srgbClr val="11B5AE"/>
          </a:solidFill>
          <a:ln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246120"/>
            <a:ext cx="777240" cy="2286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1">
                <a:solidFill>
                  <a:srgbClr val="52627A"/>
                </a:solidFill>
                <a:latin typeface="Aptos"/>
              </a:defRPr>
            </a:pPr>
            <a:r>
              <a:t>+3s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0" y="2816352"/>
            <a:ext cx="310896" cy="310896"/>
          </a:xfrm>
          <a:prstGeom prst="ellipse">
            <a:avLst/>
          </a:prstGeom>
          <a:solidFill>
            <a:srgbClr val="F2A900"/>
          </a:solidFill>
          <a:ln>
            <a:solidFill>
              <a:srgbClr val="F2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3246120"/>
            <a:ext cx="777240" cy="2286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1">
                <a:solidFill>
                  <a:srgbClr val="52627A"/>
                </a:solidFill>
                <a:latin typeface="Aptos"/>
              </a:defRPr>
            </a:pPr>
            <a:r>
              <a:t>+4s</a:t>
            </a:r>
          </a:p>
        </p:txBody>
      </p:sp>
      <p:sp>
        <p:nvSpPr>
          <p:cNvPr id="19" name="Oval 18"/>
          <p:cNvSpPr/>
          <p:nvPr/>
        </p:nvSpPr>
        <p:spPr>
          <a:xfrm>
            <a:off x="10149840" y="2816352"/>
            <a:ext cx="310896" cy="310896"/>
          </a:xfrm>
          <a:prstGeom prst="ellipse">
            <a:avLst/>
          </a:prstGeom>
          <a:solidFill>
            <a:srgbClr val="F2A900"/>
          </a:solidFill>
          <a:ln>
            <a:solidFill>
              <a:srgbClr val="F2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3246120"/>
            <a:ext cx="777240" cy="2286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1">
                <a:solidFill>
                  <a:srgbClr val="52627A"/>
                </a:solidFill>
                <a:latin typeface="Aptos"/>
              </a:defRPr>
            </a:pPr>
            <a:r>
              <a:t>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2148840"/>
            <a:ext cx="960120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900" b="1">
                <a:solidFill>
                  <a:srgbClr val="248A63"/>
                </a:solidFill>
                <a:latin typeface="Aptos"/>
              </a:defRPr>
            </a:pPr>
            <a:r>
              <a:t>HEARTBEAT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2148840"/>
            <a:ext cx="960120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900" b="1">
                <a:solidFill>
                  <a:srgbClr val="248A63"/>
                </a:solidFill>
                <a:latin typeface="Aptos"/>
              </a:defRPr>
            </a:pPr>
            <a:r>
              <a:t>HEARTBEAT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2148840"/>
            <a:ext cx="960120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900" b="1">
                <a:solidFill>
                  <a:srgbClr val="248A63"/>
                </a:solidFill>
                <a:latin typeface="Aptos"/>
              </a:defRPr>
            </a:pPr>
            <a:r>
              <a:t>HEARTBEAT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2148840"/>
            <a:ext cx="960120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900" b="1">
                <a:solidFill>
                  <a:srgbClr val="248A63"/>
                </a:solidFill>
                <a:latin typeface="Aptos"/>
              </a:defRPr>
            </a:pPr>
            <a:r>
              <a:t>HEARTBEAT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148840"/>
            <a:ext cx="1097280" cy="21945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900" b="1">
                <a:solidFill>
                  <a:srgbClr val="D94A4A"/>
                </a:solidFill>
                <a:latin typeface="Aptos"/>
              </a:defRPr>
            </a:pPr>
            <a:r>
              <a:t>MISSED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95360" y="1508760"/>
            <a:ext cx="2377440" cy="438912"/>
          </a:xfrm>
          <a:prstGeom prst="roundRect">
            <a:avLst/>
          </a:prstGeom>
          <a:solidFill>
            <a:srgbClr val="FCEAEA"/>
          </a:solidFill>
          <a:ln w="15240">
            <a:solidFill>
              <a:srgbClr val="FC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05088" y="1627632"/>
            <a:ext cx="2148840" cy="1828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D94A4A"/>
                </a:solidFill>
                <a:latin typeface="Aptos"/>
              </a:defRPr>
            </a:pPr>
            <a:r>
              <a:t>age &gt; 4 s → mark DOWN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069080"/>
            <a:ext cx="5029200" cy="1143000"/>
          </a:xfrm>
          <a:prstGeom prst="roundRect">
            <a:avLst/>
          </a:prstGeom>
          <a:solidFill>
            <a:srgbClr val="FFF4D6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4069080"/>
            <a:ext cx="64008" cy="1143000"/>
          </a:xfrm>
          <a:prstGeom prst="rect">
            <a:avLst/>
          </a:prstGeom>
          <a:solidFill>
            <a:srgbClr val="F2A900"/>
          </a:solidFill>
          <a:ln w="15240">
            <a:solidFill>
              <a:srgbClr val="F2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197096"/>
            <a:ext cx="4700016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0B1730"/>
                </a:solidFill>
                <a:latin typeface="Aptos"/>
              </a:defRPr>
            </a:pPr>
            <a:r>
              <a:t>Detection is suspicion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4608576"/>
            <a:ext cx="4645152" cy="521207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Timeout cannot distinguish a crashed node from delay, packet loss, or a coordinator/network outage.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069080"/>
            <a:ext cx="502920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4069080"/>
            <a:ext cx="64008" cy="1143000"/>
          </a:xfrm>
          <a:prstGeom prst="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197096"/>
            <a:ext cx="4700016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0B1730"/>
                </a:solidFill>
                <a:latin typeface="Aptos"/>
              </a:defRPr>
            </a:pPr>
            <a:r>
              <a:t>Actual state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7" y="4608576"/>
            <a:ext cx="4645152" cy="521207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Only ACTIVE nodes with a previously received heartbeat are checked; unseen nodes are ignored.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6208776"/>
            <a:ext cx="3840480" cy="15544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700" b="0">
                <a:solidFill>
                  <a:srgbClr val="52627A"/>
                </a:solidFill>
                <a:latin typeface="Aptos"/>
              </a:defRPr>
            </a:pPr>
            <a:r>
              <a:t>Source: config.py • heartbeat_monitor.py • node_process.py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06  •  NODE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0B1730"/>
                </a:solidFill>
                <a:latin typeface="Aptos Display"/>
              </a:defRPr>
            </a:pPr>
            <a:r>
              <a:t>Standby Recovery and Replica Repair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09728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52627A"/>
                </a:solidFill>
                <a:latin typeface="Aptos"/>
              </a:defRPr>
            </a:pPr>
            <a:r>
              <a:t>Code implements copy attempts and promotion; full end-to-end recovery remains unverified.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52627A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16</a:t>
            </a:r>
          </a:p>
        </p:txBody>
      </p:sp>
      <p:pic>
        <p:nvPicPr>
          <p:cNvPr id="8" name="Picture 7" descr="recovery_resil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3886200" cy="233172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4709160" y="1536192"/>
            <a:ext cx="329184" cy="329184"/>
          </a:xfrm>
          <a:prstGeom prst="ellipse">
            <a:avLst/>
          </a:prstGeom>
          <a:solidFill>
            <a:srgbClr val="11B5AE"/>
          </a:solidFill>
          <a:ln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627632"/>
            <a:ext cx="329184" cy="1371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3792" y="1563624"/>
            <a:ext cx="603504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300" b="0">
                <a:solidFill>
                  <a:srgbClr val="18243A"/>
                </a:solidFill>
                <a:latin typeface="Aptos"/>
              </a:defRPr>
            </a:pPr>
            <a:r>
              <a:t>Mark failed ACTIVE DOWN</a:t>
            </a:r>
          </a:p>
        </p:txBody>
      </p:sp>
      <p:sp>
        <p:nvSpPr>
          <p:cNvPr id="12" name="Oval 11"/>
          <p:cNvSpPr/>
          <p:nvPr/>
        </p:nvSpPr>
        <p:spPr>
          <a:xfrm>
            <a:off x="4709160" y="2139696"/>
            <a:ext cx="329184" cy="329184"/>
          </a:xfrm>
          <a:prstGeom prst="ellipse">
            <a:avLst/>
          </a:prstGeom>
          <a:solidFill>
            <a:srgbClr val="11B5AE"/>
          </a:solidFill>
          <a:ln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231136"/>
            <a:ext cx="329184" cy="1371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2167127"/>
            <a:ext cx="603504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300" b="0">
                <a:solidFill>
                  <a:srgbClr val="18243A"/>
                </a:solidFill>
                <a:latin typeface="Aptos"/>
              </a:defRPr>
            </a:pPr>
            <a:r>
              <a:t>Select a STANDBY</a:t>
            </a:r>
          </a:p>
        </p:txBody>
      </p:sp>
      <p:sp>
        <p:nvSpPr>
          <p:cNvPr id="15" name="Oval 14"/>
          <p:cNvSpPr/>
          <p:nvPr/>
        </p:nvSpPr>
        <p:spPr>
          <a:xfrm>
            <a:off x="4709160" y="2743200"/>
            <a:ext cx="329184" cy="329184"/>
          </a:xfrm>
          <a:prstGeom prst="ellipse">
            <a:avLst/>
          </a:prstGeom>
          <a:solidFill>
            <a:srgbClr val="11B5AE"/>
          </a:solidFill>
          <a:ln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834640"/>
            <a:ext cx="329184" cy="1371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770632"/>
            <a:ext cx="603504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300" b="0">
                <a:solidFill>
                  <a:srgbClr val="18243A"/>
                </a:solidFill>
                <a:latin typeface="Aptos"/>
              </a:defRPr>
            </a:pPr>
            <a:r>
              <a:t>Find surviving mapped replica</a:t>
            </a:r>
          </a:p>
        </p:txBody>
      </p:sp>
      <p:sp>
        <p:nvSpPr>
          <p:cNvPr id="18" name="Oval 17"/>
          <p:cNvSpPr/>
          <p:nvPr/>
        </p:nvSpPr>
        <p:spPr>
          <a:xfrm>
            <a:off x="4709160" y="3346704"/>
            <a:ext cx="329184" cy="329184"/>
          </a:xfrm>
          <a:prstGeom prst="ellipse">
            <a:avLst/>
          </a:prstGeom>
          <a:solidFill>
            <a:srgbClr val="11B5AE"/>
          </a:solidFill>
          <a:ln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3438144"/>
            <a:ext cx="329184" cy="1371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792" y="3374136"/>
            <a:ext cx="603504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300" b="0">
                <a:solidFill>
                  <a:srgbClr val="18243A"/>
                </a:solidFill>
                <a:latin typeface="Aptos"/>
              </a:defRPr>
            </a:pPr>
            <a:r>
              <a:t>FETCH then STORE each chunk</a:t>
            </a:r>
          </a:p>
        </p:txBody>
      </p:sp>
      <p:sp>
        <p:nvSpPr>
          <p:cNvPr id="21" name="Oval 20"/>
          <p:cNvSpPr/>
          <p:nvPr/>
        </p:nvSpPr>
        <p:spPr>
          <a:xfrm>
            <a:off x="4709160" y="3950208"/>
            <a:ext cx="329184" cy="329184"/>
          </a:xfrm>
          <a:prstGeom prst="ellipse">
            <a:avLst/>
          </a:prstGeom>
          <a:solidFill>
            <a:srgbClr val="F2A900"/>
          </a:solidFill>
          <a:ln>
            <a:solidFill>
              <a:srgbClr val="F2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4041648"/>
            <a:ext cx="329184" cy="1371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3977640"/>
            <a:ext cx="603504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300" b="0">
                <a:solidFill>
                  <a:srgbClr val="18243A"/>
                </a:solidFill>
                <a:latin typeface="Aptos"/>
              </a:defRPr>
            </a:pPr>
            <a:r>
              <a:t>Remap only after STORE ACK</a:t>
            </a:r>
          </a:p>
        </p:txBody>
      </p:sp>
      <p:sp>
        <p:nvSpPr>
          <p:cNvPr id="24" name="Oval 23"/>
          <p:cNvSpPr/>
          <p:nvPr/>
        </p:nvSpPr>
        <p:spPr>
          <a:xfrm>
            <a:off x="4709160" y="4553712"/>
            <a:ext cx="329184" cy="329184"/>
          </a:xfrm>
          <a:prstGeom prst="ellipse">
            <a:avLst/>
          </a:prstGeom>
          <a:solidFill>
            <a:srgbClr val="F2A900"/>
          </a:solidFill>
          <a:ln>
            <a:solidFill>
              <a:srgbClr val="F2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4645152"/>
            <a:ext cx="329184" cy="1371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3792" y="4581144"/>
            <a:ext cx="603504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300" b="1">
                <a:solidFill>
                  <a:srgbClr val="18243A"/>
                </a:solidFill>
                <a:latin typeface="Aptos"/>
              </a:defRPr>
            </a:pPr>
            <a:r>
              <a:t>Promote standby ACTIVE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413248"/>
            <a:ext cx="10835640" cy="530352"/>
          </a:xfrm>
          <a:prstGeom prst="roundRect">
            <a:avLst/>
          </a:prstGeom>
          <a:solidFill>
            <a:srgbClr val="FCEAE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5413248"/>
            <a:ext cx="64008" cy="530352"/>
          </a:xfrm>
          <a:prstGeom prst="rect">
            <a:avLst/>
          </a:prstGeom>
          <a:solidFill>
            <a:srgbClr val="D94A4A"/>
          </a:solidFill>
          <a:ln w="15240">
            <a:solidFill>
              <a:srgbClr val="D9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541264"/>
            <a:ext cx="10506456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0B1730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5952744"/>
            <a:ext cx="10451592" cy="-914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Promotion can occur even if some chunks were not repaired; do not equate N3 ACTIVE with complete restoration.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6208776"/>
            <a:ext cx="3840480" cy="15544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700" b="0">
                <a:solidFill>
                  <a:srgbClr val="52627A"/>
                </a:solidFill>
                <a:latin typeface="Aptos"/>
              </a:defRPr>
            </a:pPr>
            <a:r>
              <a:t>Source: heartbeat_monitor.py • recovery.py • db.py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07  • 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0B1730"/>
                </a:solidFill>
                <a:latin typeface="Aptos Display"/>
              </a:defRPr>
            </a:pPr>
            <a:r>
              <a:t>Merkle-Tree Integrity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09728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52627A"/>
                </a:solidFill>
                <a:latin typeface="Aptos"/>
              </a:defRPr>
            </a:pPr>
            <a:r>
              <a:t>Project tree leaves are hashes of encrypted chunks; odd leaves are duplicated at a 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52627A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4526280"/>
            <a:ext cx="1600200" cy="64008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0744" y="4636008"/>
            <a:ext cx="149047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H(C1)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4928616"/>
            <a:ext cx="1435608" cy="192023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encrypted chunk hash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4526280"/>
            <a:ext cx="1600200" cy="64008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41063" y="4636008"/>
            <a:ext cx="149047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H(C2)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8496" y="4928616"/>
            <a:ext cx="1435608" cy="192023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encrypted chunk hash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4526280"/>
            <a:ext cx="1600200" cy="64008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3" y="4636008"/>
            <a:ext cx="149047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H(C3)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4928616"/>
            <a:ext cx="1435608" cy="192023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encrypted chunk hash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4526280"/>
            <a:ext cx="1600200" cy="64008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1704" y="4636008"/>
            <a:ext cx="149047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0B1730"/>
                </a:solidFill>
                <a:latin typeface="Aptos"/>
              </a:defRPr>
            </a:pPr>
            <a:r>
              <a:t>H(C4)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4928616"/>
            <a:ext cx="1435608" cy="192023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encrypted chunk hash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3337560"/>
            <a:ext cx="2606040" cy="685800"/>
          </a:xfrm>
          <a:prstGeom prst="roundRect">
            <a:avLst/>
          </a:prstGeom>
          <a:solidFill>
            <a:srgbClr val="E4F7F5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57984" y="3447288"/>
            <a:ext cx="249631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1">
                <a:solidFill>
                  <a:srgbClr val="0B1730"/>
                </a:solidFill>
                <a:latin typeface="Aptos"/>
              </a:defRPr>
            </a:pPr>
            <a:r>
              <a:t>H(L₁ || L₂)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85415" y="3739896"/>
            <a:ext cx="2441448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pair hash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3337560"/>
            <a:ext cx="2606040" cy="685800"/>
          </a:xfrm>
          <a:prstGeom prst="roundRect">
            <a:avLst/>
          </a:prstGeom>
          <a:solidFill>
            <a:srgbClr val="E4F7F5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8624" y="3447288"/>
            <a:ext cx="249631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1">
                <a:solidFill>
                  <a:srgbClr val="0B1730"/>
                </a:solidFill>
                <a:latin typeface="Aptos"/>
              </a:defRPr>
            </a:pPr>
            <a:r>
              <a:t>H(L₃ || L₄)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6056" y="3739896"/>
            <a:ext cx="2441448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pair hash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2103120"/>
            <a:ext cx="2560320" cy="713232"/>
          </a:xfrm>
          <a:prstGeom prst="roundRect">
            <a:avLst/>
          </a:prstGeom>
          <a:solidFill>
            <a:srgbClr val="E6F5EE"/>
          </a:solidFill>
          <a:ln w="15240">
            <a:solidFill>
              <a:srgbClr val="248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52544" y="2212848"/>
            <a:ext cx="2450591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200" b="1">
                <a:solidFill>
                  <a:srgbClr val="0B1730"/>
                </a:solidFill>
                <a:latin typeface="Aptos"/>
              </a:defRPr>
            </a:pPr>
            <a:r>
              <a:t>MERKLE ROOT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976" y="2505456"/>
            <a:ext cx="2395727" cy="2651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stored in files.merkle_root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2121408" y="4023360"/>
            <a:ext cx="758952" cy="50292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749039" y="4023360"/>
            <a:ext cx="932689" cy="50292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242048" y="4023360"/>
            <a:ext cx="164592" cy="50292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8183879" y="4023360"/>
            <a:ext cx="1618489" cy="50292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410712" y="2788920"/>
            <a:ext cx="1709928" cy="548640"/>
          </a:xfrm>
          <a:prstGeom prst="line">
            <a:avLst/>
          </a:prstGeom>
          <a:ln w="2540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6035040" y="2788920"/>
            <a:ext cx="2496312" cy="548640"/>
          </a:xfrm>
          <a:prstGeom prst="line">
            <a:avLst/>
          </a:prstGeom>
          <a:ln w="2540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22960" y="5577840"/>
            <a:ext cx="10424160" cy="29260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0">
                <a:solidFill>
                  <a:srgbClr val="52627A"/>
                </a:solidFill>
                <a:latin typeface="Aptos"/>
              </a:defRPr>
            </a:pPr>
            <a:r>
              <a:t>Construction: hash each encrypted chunk → hash adjacent digest pairs → repeat to one root; duplicate an odd final leaf.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6208776"/>
            <a:ext cx="3840480" cy="15544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700" b="0">
                <a:solidFill>
                  <a:srgbClr val="52627A"/>
                </a:solidFill>
                <a:latin typeface="Aptos"/>
              </a:defRPr>
            </a:pPr>
            <a:r>
              <a:t>Source: coordinator/merkle.py • storage.py • tests/test_merkle_audit.py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07  • 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0B1730"/>
                </a:solidFill>
                <a:latin typeface="Aptos Display"/>
              </a:defRPr>
            </a:pPr>
            <a:r>
              <a:t>Hash-Linked Audit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09728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52627A"/>
                </a:solidFill>
                <a:latin typeface="Aptos"/>
              </a:defRPr>
            </a:pPr>
            <a:r>
              <a:t>Each record hash binds its event, timestamp, and predecessor digest.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52627A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242316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2258568"/>
            <a:ext cx="231343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200" b="1">
                <a:solidFill>
                  <a:srgbClr val="0B1730"/>
                </a:solidFill>
                <a:latin typeface="Aptos"/>
              </a:defRPr>
            </a:pPr>
            <a:r>
              <a:t>ENTRY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551176"/>
            <a:ext cx="2258568" cy="11521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UPLOAD</a:t>
            </a:r>
            <a:br/>
            <a:r>
              <a:t>prev = 000…000</a:t>
            </a:r>
            <a:br/>
            <a:r>
              <a:t>hash = h₁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80" y="2944368"/>
            <a:ext cx="411480" cy="0"/>
          </a:xfrm>
          <a:prstGeom prst="line">
            <a:avLst/>
          </a:prstGeom>
          <a:ln w="2540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29000" y="2148840"/>
            <a:ext cx="242316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2258568"/>
            <a:ext cx="231343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200" b="1">
                <a:solidFill>
                  <a:srgbClr val="0B1730"/>
                </a:solidFill>
                <a:latin typeface="Aptos"/>
              </a:defRPr>
            </a:pPr>
            <a:r>
              <a:t>ENTRY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2551176"/>
            <a:ext cx="2258568" cy="11521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DOWNLOAD</a:t>
            </a:r>
            <a:br/>
            <a:r>
              <a:t>prev = h₁</a:t>
            </a:r>
            <a:br/>
            <a:r>
              <a:t>hash = h₂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60" y="2944368"/>
            <a:ext cx="411480" cy="0"/>
          </a:xfrm>
          <a:prstGeom prst="line">
            <a:avLst/>
          </a:prstGeom>
          <a:ln w="2540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55080" y="2148840"/>
            <a:ext cx="242316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2258568"/>
            <a:ext cx="231343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200" b="1">
                <a:solidFill>
                  <a:srgbClr val="0B1730"/>
                </a:solidFill>
                <a:latin typeface="Aptos"/>
              </a:defRPr>
            </a:pPr>
            <a:r>
              <a:t>ENTRY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551176"/>
            <a:ext cx="2258568" cy="11521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PROMOTE</a:t>
            </a:r>
            <a:br/>
            <a:r>
              <a:t>prev = h₂</a:t>
            </a:r>
            <a:br/>
            <a:r>
              <a:t>hash = h₃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78240" y="2944368"/>
            <a:ext cx="411480" cy="0"/>
          </a:xfrm>
          <a:prstGeom prst="line">
            <a:avLst/>
          </a:prstGeom>
          <a:ln w="25400">
            <a:solidFill>
              <a:srgbClr val="11B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81160" y="2148840"/>
            <a:ext cx="242316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2258568"/>
            <a:ext cx="2313432" cy="2377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200" b="1">
                <a:solidFill>
                  <a:srgbClr val="0B1730"/>
                </a:solidFill>
                <a:latin typeface="Aptos"/>
              </a:defRPr>
            </a:pPr>
            <a:r>
              <a:t>ENTRY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2551176"/>
            <a:ext cx="2258568" cy="115214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52627A"/>
                </a:solidFill>
                <a:latin typeface="Aptos"/>
              </a:defRPr>
            </a:pPr>
            <a:r>
              <a:t>RECOVERY</a:t>
            </a:r>
            <a:br/>
            <a:r>
              <a:t>prev = h₃</a:t>
            </a:r>
            <a:br/>
            <a:r>
              <a:t>hash = h₄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51960"/>
            <a:ext cx="50292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300" b="1">
                <a:solidFill>
                  <a:srgbClr val="0B1730"/>
                </a:solidFill>
                <a:latin typeface="Aptos"/>
              </a:defRPr>
            </a:pPr>
            <a:r>
              <a:t>Verification: recompute each entry hash and compare the predecessor link.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069080"/>
            <a:ext cx="4754880" cy="1280160"/>
          </a:xfrm>
          <a:prstGeom prst="roundRect">
            <a:avLst/>
          </a:prstGeom>
          <a:solidFill>
            <a:srgbClr val="FCEAEA"/>
          </a:solidFill>
          <a:ln w="15240">
            <a:solidFill>
              <a:srgbClr val="D9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4233672"/>
            <a:ext cx="429768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200" b="1">
                <a:solidFill>
                  <a:srgbClr val="D94A4A"/>
                </a:solidFill>
                <a:latin typeface="Aptos"/>
              </a:defRPr>
            </a:pPr>
            <a:r>
              <a:t>ALTERED EVENT → HASH MISMATCH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617720"/>
            <a:ext cx="4297680" cy="5029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000" b="0">
                <a:solidFill>
                  <a:srgbClr val="18243A"/>
                </a:solidFill>
                <a:latin typeface="Aptos"/>
              </a:defRPr>
            </a:pPr>
            <a:r>
              <a:t>Detects inconsistent edits if the verifier retains trusted chain state; not an immutable external ledger.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6208776"/>
            <a:ext cx="3840480" cy="15544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700" b="0">
                <a:solidFill>
                  <a:srgbClr val="52627A"/>
                </a:solidFill>
                <a:latin typeface="Aptos"/>
              </a:defRPr>
            </a:pPr>
            <a:r>
              <a:t>Source: coordinator/audit.py • db.py • tests/test_merkle_audit.py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08  • 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0B1730"/>
                </a:solidFill>
                <a:latin typeface="Aptos Display"/>
              </a:defRPr>
            </a:pPr>
            <a:r>
              <a:t>Implementation and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09728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52627A"/>
                </a:solidFill>
                <a:latin typeface="Aptos"/>
              </a:defRPr>
            </a:pPr>
            <a:r>
              <a:t>Only technologies present in requirements or imported project code are shown.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52627A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389888"/>
            <a:ext cx="964692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1389888"/>
            <a:ext cx="2011680" cy="512064"/>
          </a:xfrm>
          <a:prstGeom prst="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545336"/>
            <a:ext cx="1828800" cy="1828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527048"/>
            <a:ext cx="7040880" cy="21945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1">
                <a:solidFill>
                  <a:srgbClr val="18243A"/>
                </a:solidFill>
                <a:latin typeface="Aptos"/>
              </a:defRPr>
            </a:pPr>
            <a:r>
              <a:t>Python CLI •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2048256"/>
            <a:ext cx="964692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0160" y="2048256"/>
            <a:ext cx="2011680" cy="512064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203704"/>
            <a:ext cx="1828800" cy="1828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HTTP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185416"/>
            <a:ext cx="7040880" cy="21945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1">
                <a:solidFill>
                  <a:srgbClr val="18243A"/>
                </a:solidFill>
                <a:latin typeface="Aptos"/>
              </a:defRPr>
            </a:pPr>
            <a:r>
              <a:t>Flask • upload / download /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2706624"/>
            <a:ext cx="964692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80160" y="2706624"/>
            <a:ext cx="2011680" cy="512064"/>
          </a:xfrm>
          <a:prstGeom prst="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862072"/>
            <a:ext cx="1828800" cy="1828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COORDINATION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843784"/>
            <a:ext cx="7040880" cy="21945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1">
                <a:solidFill>
                  <a:srgbClr val="18243A"/>
                </a:solidFill>
                <a:latin typeface="Aptos"/>
              </a:defRPr>
            </a:pPr>
            <a:r>
              <a:t>Python modules • placement • recovery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3364992"/>
            <a:ext cx="964692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80160" y="3364992"/>
            <a:ext cx="2011680" cy="512064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520440"/>
            <a:ext cx="1828800" cy="1828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METADATA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502152"/>
            <a:ext cx="7040880" cy="21945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1">
                <a:solidFill>
                  <a:srgbClr val="18243A"/>
                </a:solidFill>
                <a:latin typeface="Aptos"/>
              </a:defRPr>
            </a:pPr>
            <a:r>
              <a:t>SQLite • files / chunks / nodes / replicas / audit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4023360"/>
            <a:ext cx="964692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80160" y="4023360"/>
            <a:ext cx="2011680" cy="512064"/>
          </a:xfrm>
          <a:prstGeom prst="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178808"/>
            <a:ext cx="1828800" cy="1828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NODE I/O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160520"/>
            <a:ext cx="7040880" cy="21945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1">
                <a:solidFill>
                  <a:srgbClr val="18243A"/>
                </a:solidFill>
                <a:latin typeface="Aptos"/>
              </a:defRPr>
            </a:pPr>
            <a:r>
              <a:t>TCP sockets • framed JSON STORE / FETCH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80160" y="4681727"/>
            <a:ext cx="964692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80160" y="4681727"/>
            <a:ext cx="2011680" cy="512064"/>
          </a:xfrm>
          <a:prstGeom prst="rect">
            <a:avLst/>
          </a:prstGeom>
          <a:solidFill>
            <a:srgbClr val="248A63"/>
          </a:solidFill>
          <a:ln w="15240">
            <a:solidFill>
              <a:srgbClr val="248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4837175"/>
            <a:ext cx="1828800" cy="1828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CRYPTO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818888"/>
            <a:ext cx="7040880" cy="21945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1">
                <a:solidFill>
                  <a:srgbClr val="18243A"/>
                </a:solidFill>
                <a:latin typeface="Aptos"/>
              </a:defRPr>
            </a:pPr>
            <a:r>
              <a:t>PyCryptodome AES-GCM • hashlib SHA-256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532120"/>
            <a:ext cx="859536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0">
                <a:solidFill>
                  <a:srgbClr val="52627A"/>
                </a:solidFill>
                <a:latin typeface="Aptos"/>
              </a:defRPr>
            </a:pPr>
            <a:r>
              <a:t>Testing: pytest  •  Benchmark plotting dependency: Matplotlib  •  Deployment: local loopback prototype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870448"/>
            <a:ext cx="859536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800" b="0">
                <a:solidFill>
                  <a:srgbClr val="52627A"/>
                </a:solidFill>
                <a:latin typeface="Aptos"/>
              </a:defRPr>
            </a:pPr>
            <a:r>
              <a:t>Framework and storage references: Flask [1] • SQLite [2] • Python sockets [3]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09  • 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0B1730"/>
                </a:solidFill>
                <a:latin typeface="Aptos Display"/>
              </a:defRPr>
            </a:pPr>
            <a:r>
              <a:t>Testing Strategy and Verified Test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09728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52627A"/>
                </a:solidFill>
                <a:latin typeface="Aptos"/>
              </a:defRPr>
            </a:pPr>
            <a:r>
              <a:t>Previous repository audit: 11 unit tests passed; that result was not rerun for this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52627A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530352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81328"/>
            <a:ext cx="64008" cy="3611880"/>
          </a:xfrm>
          <a:prstGeom prst="rect">
            <a:avLst/>
          </a:prstGeom>
          <a:solidFill>
            <a:srgbClr val="248A63"/>
          </a:solidFill>
          <a:ln w="15240">
            <a:solidFill>
              <a:srgbClr val="248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609344"/>
            <a:ext cx="4974336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0B1730"/>
                </a:solidFill>
                <a:latin typeface="Aptos"/>
              </a:defRPr>
            </a:pPr>
            <a:r>
              <a:t>Unit-test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020824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 Chunk split/reassemble and empty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551176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 AES-GCM round trips, wrong key, tampering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081528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 Placement and SQLite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611880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 Merkle root and audit tamper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142232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 Stale ACTIVE heartbeat marking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481328"/>
            <a:ext cx="5303520" cy="3611880"/>
          </a:xfrm>
          <a:prstGeom prst="roundRect">
            <a:avLst/>
          </a:prstGeom>
          <a:solidFill>
            <a:srgbClr val="FFF4D6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481328"/>
            <a:ext cx="64008" cy="3611880"/>
          </a:xfrm>
          <a:prstGeom prst="rect">
            <a:avLst/>
          </a:prstGeom>
          <a:solidFill>
            <a:srgbClr val="F2A900"/>
          </a:solidFill>
          <a:ln w="15240">
            <a:solidFill>
              <a:srgbClr val="F2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609344"/>
            <a:ext cx="4974336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0B1730"/>
                </a:solidFill>
                <a:latin typeface="Aptos"/>
              </a:defRPr>
            </a:pPr>
            <a:r>
              <a:t>Not established by that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2020824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 Live upload/download across child processes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551176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 Retrieval after an actual node termination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3081528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 Complete standby replica restoration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611880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 Failure-detection or recovery 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4142232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200" b="0">
                <a:solidFill>
                  <a:srgbClr val="18243A"/>
                </a:solidFill>
                <a:latin typeface="Aptos"/>
              </a:defRPr>
            </a:pPr>
            <a:r>
              <a:t>•  Performance under repeated or concurrent load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376672"/>
            <a:ext cx="1920240" cy="310896"/>
          </a:xfrm>
          <a:prstGeom prst="roundRect">
            <a:avLst/>
          </a:prstGeom>
          <a:solidFill>
            <a:srgbClr val="E6F5EE"/>
          </a:solidFill>
          <a:ln w="15240">
            <a:solidFill>
              <a:srgbClr val="E6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40680"/>
            <a:ext cx="18288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900" b="1">
                <a:solidFill>
                  <a:srgbClr val="248A63"/>
                </a:solidFill>
                <a:latin typeface="Aptos"/>
              </a:defRPr>
            </a:pPr>
            <a:r>
              <a:t>11 TESTS REPORTED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5394960"/>
            <a:ext cx="786384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300" b="1">
                <a:solidFill>
                  <a:srgbClr val="0B1730"/>
                </a:solidFill>
                <a:latin typeface="Aptos"/>
              </a:defRPr>
            </a:pPr>
            <a:r>
              <a:t>Unit tests check components; end-to-end experiments exercise the running system.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6208776"/>
            <a:ext cx="3840480" cy="15544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700" b="0">
                <a:solidFill>
                  <a:srgbClr val="52627A"/>
                </a:solidFill>
                <a:latin typeface="Aptos"/>
              </a:defRPr>
            </a:pPr>
            <a:r>
              <a:t>Evidence: repository tests • previous audit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989320"/>
            <a:ext cx="384048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800" b="0">
                <a:solidFill>
                  <a:srgbClr val="52627A"/>
                </a:solidFill>
                <a:latin typeface="Aptos"/>
              </a:defRPr>
            </a:pPr>
            <a:r>
              <a:t>pytest docs [8]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09  •  EVALUATION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0B1730"/>
                </a:solidFill>
                <a:latin typeface="Aptos Display"/>
              </a:defRPr>
            </a:pPr>
            <a:r>
              <a:t>Experimental Evaluation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09728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52627A"/>
                </a:solidFill>
                <a:latin typeface="Aptos"/>
              </a:defRPr>
            </a:pPr>
            <a:r>
              <a:t>Proposed metrics only — no benchmark or end-to-end recovery experiment has been executed.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52627A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213055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27632"/>
            <a:ext cx="64008" cy="1965960"/>
          </a:xfrm>
          <a:prstGeom prst="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55648"/>
            <a:ext cx="1801368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0B1730"/>
                </a:solidFill>
                <a:latin typeface="Aptos"/>
              </a:defRPr>
            </a:pPr>
            <a:r>
              <a:t>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1746504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•  elapsed request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97480"/>
            <a:ext cx="1746504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•  mean = Σt / 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1627632"/>
            <a:ext cx="213055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39" y="1627632"/>
            <a:ext cx="64008" cy="1965960"/>
          </a:xfrm>
          <a:prstGeom prst="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1755648"/>
            <a:ext cx="1801368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0B1730"/>
                </a:solidFill>
                <a:latin typeface="Aptos"/>
              </a:defRPr>
            </a:pPr>
            <a:r>
              <a:t>Throughput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2167128"/>
            <a:ext cx="1746504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•  successful bytes / elapsed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2697480"/>
            <a:ext cx="1746504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•  bytes ÷ seconds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59" y="1627632"/>
            <a:ext cx="213055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66359" y="1627632"/>
            <a:ext cx="64008" cy="1965960"/>
          </a:xfrm>
          <a:prstGeom prst="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1755648"/>
            <a:ext cx="1801368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0B1730"/>
                </a:solidFill>
                <a:latin typeface="Aptos"/>
              </a:defRPr>
            </a:pPr>
            <a:r>
              <a:t>Replica overhead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7527" y="2167128"/>
            <a:ext cx="1746504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•  additional replica bytes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7" y="2697480"/>
            <a:ext cx="1746504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•  extra / original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627632"/>
            <a:ext cx="213055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1627632"/>
            <a:ext cx="64008" cy="196596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59" y="1755648"/>
            <a:ext cx="1801368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0B1730"/>
                </a:solidFill>
                <a:latin typeface="Aptos"/>
              </a:defRPr>
            </a:pPr>
            <a:r>
              <a:t>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2167128"/>
            <a:ext cx="1746504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•  node stop → DOWN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2697480"/>
            <a:ext cx="1746504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•  record wall-clock 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1627632"/>
            <a:ext cx="213055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29800" y="1627632"/>
            <a:ext cx="64008" cy="196596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12680" y="1755648"/>
            <a:ext cx="1801368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0B1730"/>
                </a:solidFill>
                <a:latin typeface="Aptos"/>
              </a:defRPr>
            </a:pPr>
            <a:r>
              <a:t>Repair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30968" y="2167128"/>
            <a:ext cx="1746504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•  DOWN → repair/promotion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0968" y="2697480"/>
            <a:ext cx="1746504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•  separate copy and total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069080"/>
            <a:ext cx="10607040" cy="1143000"/>
          </a:xfrm>
          <a:prstGeom prst="roundRect">
            <a:avLst/>
          </a:prstGeom>
          <a:solidFill>
            <a:srgbClr val="132743"/>
          </a:solidFill>
          <a:ln w="15240">
            <a:solidFill>
              <a:srgbClr val="13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" y="4270248"/>
            <a:ext cx="10058400" cy="25603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300" b="1">
                <a:solidFill>
                  <a:srgbClr val="6DD5E8"/>
                </a:solidFill>
                <a:latin typeface="Aptos"/>
              </a:defRPr>
            </a:pPr>
            <a:r>
              <a:t>Controlled run checklist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636008"/>
            <a:ext cx="9966960" cy="3657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Record file sizes • trial count • OS/hardware • topology • fixed-port availability • all failures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486400"/>
            <a:ext cx="10241280" cy="29260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D94A4A"/>
                </a:solidFill>
                <a:latin typeface="Aptos"/>
              </a:defRPr>
            </a:pPr>
            <a:r>
              <a:t>No values are reported: existing benchmark scripts write under experiments/results and were left unexecuted.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09  • 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0B1730"/>
                </a:solidFill>
                <a:latin typeface="Aptos Display"/>
              </a:defRPr>
            </a:pPr>
            <a:r>
              <a:t>Results and Current Implementation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09728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52627A"/>
                </a:solidFill>
                <a:latin typeface="Aptos"/>
              </a:defRPr>
            </a:pPr>
            <a:r>
              <a:t>Separate source presence, prior unit evidence, and missing system-level measurements.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52627A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3017520" cy="438912"/>
          </a:xfrm>
          <a:prstGeom prst="rect">
            <a:avLst/>
          </a:prstGeom>
          <a:solidFill>
            <a:srgbClr val="0B1730"/>
          </a:solidFill>
          <a:ln w="15240">
            <a:solidFill>
              <a:srgbClr val="0B1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27048"/>
            <a:ext cx="2834639" cy="1828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1417320"/>
            <a:ext cx="2834640" cy="438912"/>
          </a:xfrm>
          <a:prstGeom prst="rect">
            <a:avLst/>
          </a:prstGeom>
          <a:solidFill>
            <a:srgbClr val="0B1730"/>
          </a:solidFill>
          <a:ln w="15240">
            <a:solidFill>
              <a:srgbClr val="0B1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79" y="1527048"/>
            <a:ext cx="2651760" cy="1828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Evidence 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417320"/>
            <a:ext cx="4937760" cy="438912"/>
          </a:xfrm>
          <a:prstGeom prst="rect">
            <a:avLst/>
          </a:prstGeom>
          <a:solidFill>
            <a:srgbClr val="0B1730"/>
          </a:solidFill>
          <a:ln w="15240">
            <a:solidFill>
              <a:srgbClr val="0B1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527048"/>
            <a:ext cx="4754880" cy="1828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What is still unknown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911095"/>
            <a:ext cx="301752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029967"/>
            <a:ext cx="2834639" cy="2743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1">
                <a:solidFill>
                  <a:srgbClr val="18243A"/>
                </a:solidFill>
                <a:latin typeface="Aptos"/>
              </a:defRPr>
            </a:pPr>
            <a:r>
              <a:t>Upload / retrieval routes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1911095"/>
            <a:ext cx="283464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79" y="2029967"/>
            <a:ext cx="2651760" cy="2743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0">
                <a:solidFill>
                  <a:srgbClr val="18243A"/>
                </a:solidFill>
                <a:latin typeface="Aptos"/>
              </a:defRPr>
            </a:pPr>
            <a:r>
              <a:t>In source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911095"/>
            <a:ext cx="49377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029967"/>
            <a:ext cx="4754880" cy="2743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0">
                <a:solidFill>
                  <a:srgbClr val="18243A"/>
                </a:solidFill>
                <a:latin typeface="Aptos"/>
              </a:defRPr>
            </a:pPr>
            <a:r>
              <a:t>No live E2E run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468879"/>
            <a:ext cx="3017520" cy="502920"/>
          </a:xfrm>
          <a:prstGeom prst="rect">
            <a:avLst/>
          </a:prstGeom>
          <a:solidFill>
            <a:srgbClr val="E8F0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587751"/>
            <a:ext cx="2834639" cy="2743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1">
                <a:solidFill>
                  <a:srgbClr val="18243A"/>
                </a:solidFill>
                <a:latin typeface="Aptos"/>
              </a:defRPr>
            </a:pPr>
            <a:r>
              <a:t>AES-GCM / SHA-256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2468879"/>
            <a:ext cx="2834640" cy="502920"/>
          </a:xfrm>
          <a:prstGeom prst="rect">
            <a:avLst/>
          </a:prstGeom>
          <a:solidFill>
            <a:srgbClr val="E8F0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79" y="2587751"/>
            <a:ext cx="2651760" cy="2743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0">
                <a:solidFill>
                  <a:srgbClr val="18243A"/>
                </a:solidFill>
                <a:latin typeface="Aptos"/>
              </a:defRPr>
            </a:pPr>
            <a:r>
              <a:t>In source + unit tests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468879"/>
            <a:ext cx="4937760" cy="502920"/>
          </a:xfrm>
          <a:prstGeom prst="rect">
            <a:avLst/>
          </a:prstGeom>
          <a:solidFill>
            <a:srgbClr val="E8F0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2587751"/>
            <a:ext cx="4754880" cy="2743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0">
                <a:solidFill>
                  <a:srgbClr val="18243A"/>
                </a:solidFill>
                <a:latin typeface="Aptos"/>
              </a:defRPr>
            </a:pPr>
            <a:r>
              <a:t>Selected component checks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026663"/>
            <a:ext cx="301752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145535"/>
            <a:ext cx="2834639" cy="2743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1">
                <a:solidFill>
                  <a:srgbClr val="18243A"/>
                </a:solidFill>
                <a:latin typeface="Aptos"/>
              </a:defRPr>
            </a:pPr>
            <a:r>
              <a:t>Merkle helper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39" y="3026663"/>
            <a:ext cx="283464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79" y="3145535"/>
            <a:ext cx="2651760" cy="2743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0">
                <a:solidFill>
                  <a:srgbClr val="18243A"/>
                </a:solidFill>
                <a:latin typeface="Aptos"/>
              </a:defRPr>
            </a:pPr>
            <a:r>
              <a:t>In source + unit tests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026663"/>
            <a:ext cx="49377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3145535"/>
            <a:ext cx="4754880" cy="2743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0">
                <a:solidFill>
                  <a:srgbClr val="18243A"/>
                </a:solidFill>
                <a:latin typeface="Aptos"/>
              </a:defRPr>
            </a:pPr>
            <a:r>
              <a:t>No scale/performance 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584448"/>
            <a:ext cx="3017520" cy="502920"/>
          </a:xfrm>
          <a:prstGeom prst="rect">
            <a:avLst/>
          </a:prstGeom>
          <a:solidFill>
            <a:srgbClr val="E8F0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3703320"/>
            <a:ext cx="2834639" cy="2743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1">
                <a:solidFill>
                  <a:srgbClr val="18243A"/>
                </a:solidFill>
                <a:latin typeface="Aptos"/>
              </a:defRPr>
            </a:pPr>
            <a:r>
              <a:t>Audit hash chain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39" y="3584448"/>
            <a:ext cx="2834640" cy="502920"/>
          </a:xfrm>
          <a:prstGeom prst="rect">
            <a:avLst/>
          </a:prstGeom>
          <a:solidFill>
            <a:srgbClr val="E8F0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79" y="3703320"/>
            <a:ext cx="2651760" cy="2743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0">
                <a:solidFill>
                  <a:srgbClr val="18243A"/>
                </a:solidFill>
                <a:latin typeface="Aptos"/>
              </a:defRPr>
            </a:pPr>
            <a:r>
              <a:t>In source + unit test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3584448"/>
            <a:ext cx="4937760" cy="502920"/>
          </a:xfrm>
          <a:prstGeom prst="rect">
            <a:avLst/>
          </a:prstGeom>
          <a:solidFill>
            <a:srgbClr val="E8F0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3703320"/>
            <a:ext cx="4754880" cy="2743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0">
                <a:solidFill>
                  <a:srgbClr val="18243A"/>
                </a:solidFill>
                <a:latin typeface="Aptos"/>
              </a:defRPr>
            </a:pPr>
            <a:r>
              <a:t>Tamper check is component-level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142231"/>
            <a:ext cx="301752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4261103"/>
            <a:ext cx="2834639" cy="2743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1">
                <a:solidFill>
                  <a:srgbClr val="18243A"/>
                </a:solidFill>
                <a:latin typeface="Aptos"/>
              </a:defRPr>
            </a:pPr>
            <a:r>
              <a:t>Heartbeat detector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39" y="4142231"/>
            <a:ext cx="283464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79" y="4261103"/>
            <a:ext cx="2651760" cy="2743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0">
                <a:solidFill>
                  <a:srgbClr val="18243A"/>
                </a:solidFill>
                <a:latin typeface="Aptos"/>
              </a:defRPr>
            </a:pPr>
            <a:r>
              <a:t>In source + unit test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4142231"/>
            <a:ext cx="49377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261103"/>
            <a:ext cx="4754880" cy="2743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0">
                <a:solidFill>
                  <a:srgbClr val="18243A"/>
                </a:solidFill>
                <a:latin typeface="Aptos"/>
              </a:defRPr>
            </a:pPr>
            <a:r>
              <a:t>No real failure timing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4700016"/>
            <a:ext cx="3017520" cy="502920"/>
          </a:xfrm>
          <a:prstGeom prst="rect">
            <a:avLst/>
          </a:prstGeom>
          <a:solidFill>
            <a:srgbClr val="E8F0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4818888"/>
            <a:ext cx="2834639" cy="2743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1">
                <a:solidFill>
                  <a:srgbClr val="18243A"/>
                </a:solidFill>
                <a:latin typeface="Aptos"/>
              </a:defRPr>
            </a:pPr>
            <a:r>
              <a:t>Standby repair routine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39" y="4700016"/>
            <a:ext cx="2834640" cy="502920"/>
          </a:xfrm>
          <a:prstGeom prst="rect">
            <a:avLst/>
          </a:prstGeom>
          <a:solidFill>
            <a:srgbClr val="E8F0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79" y="4818888"/>
            <a:ext cx="2651760" cy="2743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0">
                <a:solidFill>
                  <a:srgbClr val="18243A"/>
                </a:solidFill>
                <a:latin typeface="Aptos"/>
              </a:defRPr>
            </a:pPr>
            <a:r>
              <a:t>In source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4700016"/>
            <a:ext cx="4937760" cy="502920"/>
          </a:xfrm>
          <a:prstGeom prst="rect">
            <a:avLst/>
          </a:prstGeom>
          <a:solidFill>
            <a:srgbClr val="E8F0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4818888"/>
            <a:ext cx="4754880" cy="2743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0">
                <a:solidFill>
                  <a:srgbClr val="18243A"/>
                </a:solidFill>
                <a:latin typeface="Aptos"/>
              </a:defRPr>
            </a:pPr>
            <a:r>
              <a:t>End-to-end recovery unrun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5257800"/>
            <a:ext cx="301752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376672"/>
            <a:ext cx="2834639" cy="2743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1">
                <a:solidFill>
                  <a:srgbClr val="18243A"/>
                </a:solidFill>
                <a:latin typeface="Aptos"/>
              </a:defRPr>
            </a:pPr>
            <a:r>
              <a:t>Benchmarks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9039" y="5257800"/>
            <a:ext cx="283464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40479" y="5376672"/>
            <a:ext cx="2651760" cy="2743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0">
                <a:solidFill>
                  <a:srgbClr val="18243A"/>
                </a:solidFill>
                <a:latin typeface="Aptos"/>
              </a:defRPr>
            </a:pPr>
            <a:r>
              <a:t>Scripts present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5257800"/>
            <a:ext cx="49377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75120" y="5376672"/>
            <a:ext cx="4754880" cy="2743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000" b="0">
                <a:solidFill>
                  <a:srgbClr val="18243A"/>
                </a:solidFill>
                <a:latin typeface="Aptos"/>
              </a:defRPr>
            </a:pPr>
            <a:r>
              <a:t>Not executed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5897880"/>
            <a:ext cx="10515600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100" b="1">
                <a:solidFill>
                  <a:srgbClr val="D94A4A"/>
                </a:solidFill>
                <a:latin typeface="Aptos"/>
              </a:defRPr>
            </a:pPr>
            <a:r>
              <a:t>No benchmark values, recovery duration, success rate, or storage-overhead result is available.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t>10  • 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0B1730"/>
                </a:solidFill>
                <a:latin typeface="Aptos Display"/>
              </a:defRPr>
            </a:pPr>
            <a:r>
              <a:t>Limitations and 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09728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52627A"/>
                </a:solidFill>
                <a:latin typeface="Aptos"/>
              </a:defRPr>
            </a:pPr>
            <a:r>
              <a:t>Separate established architectural limits from evaluation work still to be done.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52627A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08760"/>
            <a:ext cx="530352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08760"/>
            <a:ext cx="64008" cy="4297680"/>
          </a:xfrm>
          <a:prstGeom prst="rect">
            <a:avLst/>
          </a:prstGeom>
          <a:solidFill>
            <a:srgbClr val="F2A900"/>
          </a:solidFill>
          <a:ln w="15240">
            <a:solidFill>
              <a:srgbClr val="F2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636776"/>
            <a:ext cx="4974336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0B1730"/>
                </a:solidFill>
                <a:latin typeface="Aptos"/>
              </a:defRPr>
            </a:pPr>
            <a:r>
              <a:t>Current constraints / open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048255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•  Single coordinator and local SQLite 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578608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•  Loopback defaults; no peer discovery or consensus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108960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•  No HTTP/TCP authentication or TLS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639312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•  Static demo key; no external key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169663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•  No automatic reintegration of restarted DOWN nodes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700016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•  Benchmarks and end-to-end recovery unmeasured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1508760"/>
            <a:ext cx="530352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1508760"/>
            <a:ext cx="64008" cy="42976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636776"/>
            <a:ext cx="4974336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500" b="1">
                <a:solidFill>
                  <a:srgbClr val="0B1730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048255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•  Isolated upload/download benchmark series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578608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•  Controlled one-node failure and repair trials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108960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•  Network delay, partition, and concurrent-failure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639312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•  Replica consistency and repair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4169663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•  Secure key provisioning and authenticated transport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700016"/>
            <a:ext cx="4919472" cy="49377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18243A"/>
                </a:solidFill>
                <a:latin typeface="Aptos"/>
              </a:defRPr>
            </a:pPr>
            <a:r>
              <a:t>•  Multi-host and workload scaling evaluation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6DD5E8"/>
                </a:solidFill>
                <a:latin typeface="Aptos"/>
              </a:defRPr>
            </a:pPr>
            <a:r>
              <a:t>10  • 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Conclusion and Project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0972800" cy="31089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0">
                <a:solidFill>
                  <a:srgbClr val="CBD5E1"/>
                </a:solidFill>
                <a:latin typeface="Aptos"/>
              </a:defRPr>
            </a:pPr>
            <a:r>
              <a:t>A prototype foundation for investigating resilient storage—not a production availability claim.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CBD5E1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6DD5E8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37560" cy="2057400"/>
          </a:xfrm>
          <a:prstGeom prst="roundRect">
            <a:avLst/>
          </a:prstGeom>
          <a:solidFill>
            <a:srgbClr val="132743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2971800" cy="30175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600" b="1">
                <a:solidFill>
                  <a:srgbClr val="6DD5E8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51760"/>
            <a:ext cx="2880360" cy="9144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ptos"/>
              </a:defRPr>
            </a:pPr>
            <a:r>
              <a:t>HTTP file operations</a:t>
            </a:r>
            <a:br/>
            <a:r>
              <a:t>1 MiB encrypted chunks</a:t>
            </a:r>
            <a:br/>
            <a:r>
              <a:t>TCP node I/O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337560" cy="2057400"/>
          </a:xfrm>
          <a:prstGeom prst="roundRect">
            <a:avLst/>
          </a:prstGeom>
          <a:solidFill>
            <a:srgbClr val="132743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057400"/>
            <a:ext cx="2971800" cy="30175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600" b="1">
                <a:solidFill>
                  <a:srgbClr val="6DD5E8"/>
                </a:solidFill>
                <a:latin typeface="Aptos"/>
              </a:defRPr>
            </a:pPr>
            <a:r>
              <a:t>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51760"/>
            <a:ext cx="2880360" cy="9144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ptos"/>
              </a:defRPr>
            </a:pPr>
            <a:r>
              <a:t>SHA-256 comparisons</a:t>
            </a:r>
            <a:br/>
            <a:r>
              <a:t>Merkle root check</a:t>
            </a:r>
            <a:br/>
            <a:r>
              <a:t>Hash-linked audit events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337560" cy="2057400"/>
          </a:xfrm>
          <a:prstGeom prst="roundRect">
            <a:avLst/>
          </a:prstGeom>
          <a:solidFill>
            <a:srgbClr val="132743"/>
          </a:solidFill>
          <a:ln w="15240">
            <a:solidFill>
              <a:srgbClr val="F2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057400"/>
            <a:ext cx="2971800" cy="30175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600" b="1">
                <a:solidFill>
                  <a:srgbClr val="F2A900"/>
                </a:solidFill>
                <a:latin typeface="Aptos"/>
              </a:defRPr>
            </a:pPr>
            <a:r>
              <a:t>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651760"/>
            <a:ext cx="2880360" cy="9144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ptos"/>
              </a:defRPr>
            </a:pPr>
            <a:r>
              <a:t>Heartbeat-based DOWN state</a:t>
            </a:r>
            <a:br/>
            <a:r>
              <a:t>Standby copy attempts</a:t>
            </a:r>
            <a:br/>
            <a:r>
              <a:t>Evidence still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389120"/>
            <a:ext cx="10241280" cy="6400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Initial unit-test evidence exists. Controlled experiments are needed to quantify performance and establish end-to-end recovery effectiveness.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440680"/>
            <a:ext cx="10241280" cy="32918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200" b="1">
                <a:solidFill>
                  <a:srgbClr val="6DD5E8"/>
                </a:solidFill>
                <a:latin typeface="Aptos"/>
              </a:defRPr>
            </a:pPr>
            <a:r>
              <a:t>Distributed storage + integrity verification + failure monitoring = a foundation for investigating resilient systems.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1B5AE"/>
          </a:solidFill>
          <a:ln w="15240">
            <a:solidFill>
              <a:srgbClr val="11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228600"/>
            <a:ext cx="10789920" cy="1737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900" b="1">
                <a:solidFill>
                  <a:srgbClr val="6DD5E8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66344"/>
            <a:ext cx="11109960" cy="47548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References and Acknowledgements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6519672"/>
            <a:ext cx="9144000" cy="16459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1">
                <a:solidFill>
                  <a:srgbClr val="CBD5E1"/>
                </a:solidFill>
                <a:latin typeface="Aptos"/>
              </a:defRPr>
            </a:pPr>
            <a:r>
              <a:t>FAULT TOLERANT P2P  •  ACADEMIC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38912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r">
              <a:defRPr sz="900" b="1">
                <a:solidFill>
                  <a:srgbClr val="6DD5E8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074920" cy="2286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1">
                <a:solidFill>
                  <a:srgbClr val="6DD5E8"/>
                </a:solidFill>
                <a:latin typeface="Aptos"/>
              </a:defRPr>
            </a:pPr>
            <a:r>
              <a:t>[1] Flask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5074920" cy="2286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0">
                <a:solidFill>
                  <a:srgbClr val="FFFFFF"/>
                </a:solidFill>
                <a:latin typeface="Aptos"/>
              </a:defRPr>
            </a:pPr>
            <a:r>
              <a:t>https://flask.palletsprojects.com/en/stable/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39112"/>
            <a:ext cx="5074920" cy="2286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1">
                <a:solidFill>
                  <a:srgbClr val="6DD5E8"/>
                </a:solidFill>
                <a:latin typeface="Aptos"/>
              </a:defRPr>
            </a:pPr>
            <a:r>
              <a:t>[2] SQLite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5074920" cy="2286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0">
                <a:solidFill>
                  <a:srgbClr val="FFFFFF"/>
                </a:solidFill>
                <a:latin typeface="Aptos"/>
              </a:defRPr>
            </a:pPr>
            <a:r>
              <a:t>https://sqlite.org/docs.html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52344"/>
            <a:ext cx="5074920" cy="2286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1">
                <a:solidFill>
                  <a:srgbClr val="6DD5E8"/>
                </a:solidFill>
                <a:latin typeface="Aptos"/>
              </a:defRPr>
            </a:pPr>
            <a:r>
              <a:t>[3] Python socket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26663"/>
            <a:ext cx="5074920" cy="2286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0">
                <a:solidFill>
                  <a:srgbClr val="FFFFFF"/>
                </a:solidFill>
                <a:latin typeface="Aptos"/>
              </a:defRPr>
            </a:pPr>
            <a:r>
              <a:t>https://docs.python.org/3/library/socket.html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65576"/>
            <a:ext cx="5074920" cy="2286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1">
                <a:solidFill>
                  <a:srgbClr val="6DD5E8"/>
                </a:solidFill>
                <a:latin typeface="Aptos"/>
              </a:defRPr>
            </a:pPr>
            <a:r>
              <a:t>[4] NIST FIPS 197, AES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39896"/>
            <a:ext cx="5074920" cy="2286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0">
                <a:solidFill>
                  <a:srgbClr val="FFFFFF"/>
                </a:solidFill>
                <a:latin typeface="Aptos"/>
              </a:defRPr>
            </a:pPr>
            <a:r>
              <a:t>https://nvlpubs.nist.gov/nistpubs/FIPS/NIST.FIPS.197-upd1.pdf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325880"/>
            <a:ext cx="5074920" cy="2286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1">
                <a:solidFill>
                  <a:srgbClr val="6DD5E8"/>
                </a:solidFill>
                <a:latin typeface="Aptos"/>
              </a:defRPr>
            </a:pPr>
            <a:r>
              <a:t>[5] NIST FIPS 180-4, Secure Hash 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600200"/>
            <a:ext cx="5074920" cy="2286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0">
                <a:solidFill>
                  <a:srgbClr val="FFFFFF"/>
                </a:solidFill>
                <a:latin typeface="Aptos"/>
              </a:defRPr>
            </a:pPr>
            <a:r>
              <a:t>https://csrc.nist.gov/pubs/fips/180-4/upd1/final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039112"/>
            <a:ext cx="5074920" cy="2286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1">
                <a:solidFill>
                  <a:srgbClr val="6DD5E8"/>
                </a:solidFill>
                <a:latin typeface="Aptos"/>
              </a:defRPr>
            </a:pPr>
            <a:r>
              <a:t>[6] PyCryptodome AES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313432"/>
            <a:ext cx="5074920" cy="2286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0">
                <a:solidFill>
                  <a:srgbClr val="FFFFFF"/>
                </a:solidFill>
                <a:latin typeface="Aptos"/>
              </a:defRPr>
            </a:pPr>
            <a:r>
              <a:t>https://pycryptodome.readthedocs.io/en/latest/src/cipher/aes.html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752344"/>
            <a:ext cx="5074920" cy="2286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1">
                <a:solidFill>
                  <a:srgbClr val="6DD5E8"/>
                </a:solidFill>
                <a:latin typeface="Aptos"/>
              </a:defRPr>
            </a:pPr>
            <a:r>
              <a:t>[7] Repository README, configuration, source,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026663"/>
            <a:ext cx="5074920" cy="2286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0">
                <a:solidFill>
                  <a:srgbClr val="FFFFFF"/>
                </a:solidFill>
                <a:latin typeface="Aptos"/>
              </a:defRPr>
            </a:pPr>
            <a:r>
              <a:t>Local project files inspected for implementation claims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465576"/>
            <a:ext cx="5074920" cy="2286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1100" b="1">
                <a:solidFill>
                  <a:srgbClr val="6DD5E8"/>
                </a:solidFill>
                <a:latin typeface="Aptos"/>
              </a:defRPr>
            </a:pPr>
            <a:r>
              <a:t>[8] pytest documentation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739896"/>
            <a:ext cx="5074920" cy="2286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>
              <a:defRPr sz="800" b="0">
                <a:solidFill>
                  <a:srgbClr val="FFFFFF"/>
                </a:solidFill>
                <a:latin typeface="Aptos"/>
              </a:defRPr>
            </a:pPr>
            <a:r>
              <a:t>https://docs.pytest.org/en/stable/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617720"/>
            <a:ext cx="10332720" cy="685800"/>
          </a:xfrm>
          <a:prstGeom prst="roundRect">
            <a:avLst/>
          </a:prstGeom>
          <a:solidFill>
            <a:srgbClr val="132743"/>
          </a:solidFill>
          <a:ln w="15240">
            <a:solidFill>
              <a:srgbClr val="13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736592"/>
            <a:ext cx="9966960" cy="1828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900" b="1">
                <a:solidFill>
                  <a:srgbClr val="CBD5E1"/>
                </a:solidFill>
                <a:latin typeface="Aptos"/>
              </a:defRPr>
            </a:pPr>
            <a:r>
              <a:t>Acknowledgements: [GUIDE / LAB / INSTITUTIONAL ACKNOWLEDGEMENTS]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532120"/>
            <a:ext cx="9966960" cy="347472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THANK YOU  •  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Fault Tolerant P2P Distributed Storage System</dc:title>
  <dc:subject>Final-year project presentation</dc:subject>
  <dc:creator>[STUDENT NAME]</dc:creator>
  <cp:keywords>distributed storage, replication, integrity, fault detection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